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1F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814255" y="6473952"/>
            <a:ext cx="182880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1B72B1FF-B140-41BA-B11F-F41155ABB7C4}" type="slidenum">
              <a:rPr lang="en-US" sz="1600" b="1">
                <a:solidFill>
                  <a:srgbClr val="B08D57"/>
                </a:solidFill>
                <a:latin typeface="Arial"/>
              </a:rPr>
              <a:t>1</a:t>
            </a:fld>
            <a:r>
              <a:rPr sz="1600" b="1">
                <a:solidFill>
                  <a:srgbClr val="B08D57"/>
                </a:solidFill>
                <a:latin typeface="Arial"/>
              </a:rPr>
              <a:t> /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400" b="1" i="0" spc="200">
                <a:solidFill>
                  <a:srgbClr val="B08D57"/>
                </a:solidFill>
                <a:latin typeface="Arial"/>
              </a:rPr>
              <a:t>EXERCISE DURJOY GHATI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65960"/>
            <a:ext cx="1109441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5600" b="1" i="0" spc="200">
                <a:solidFill>
                  <a:srgbClr val="F4F2EC"/>
                </a:solidFill>
                <a:latin typeface="Arial"/>
              </a:rPr>
              <a:t>CAX-19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154680"/>
            <a:ext cx="110944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600" b="1" i="0" spc="100">
                <a:solidFill>
                  <a:srgbClr val="4B5320"/>
                </a:solidFill>
                <a:latin typeface="Arial"/>
              </a:rPr>
              <a:t>33 INFANTRY DIVISION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4724247" y="3886200"/>
            <a:ext cx="2743200" cy="19050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4069080"/>
            <a:ext cx="11094415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200" b="0" i="1" spc="100">
                <a:solidFill>
                  <a:srgbClr val="F4F2EC"/>
                </a:solidFill>
                <a:latin typeface="Arial"/>
              </a:rPr>
              <a:t>OBJECT-LESSONS MATRIX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989320"/>
            <a:ext cx="110944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0" i="0">
                <a:solidFill>
                  <a:srgbClr val="B08D57"/>
                </a:solidFill>
                <a:latin typeface="Arial"/>
              </a:rPr>
              <a:t>Command Post Exercise • 2025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814255" y="6473952"/>
            <a:ext cx="182880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5E9FA395-6EAE-4298-AEBB-D066C7B79FD9}" type="slidenum">
              <a:rPr lang="en-US" sz="1600" b="1">
                <a:solidFill>
                  <a:srgbClr val="B08D57"/>
                </a:solidFill>
                <a:latin typeface="Arial"/>
              </a:rPr>
              <a:t>1</a:t>
            </a:fld>
            <a:r>
              <a:rPr sz="1600" b="1">
                <a:solidFill>
                  <a:srgbClr val="B08D57"/>
                </a:solidFill>
                <a:latin typeface="Arial"/>
              </a:rPr>
              <a:t> /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 spc="60">
                <a:solidFill>
                  <a:srgbClr val="B08D57"/>
                </a:solidFill>
                <a:latin typeface="Arial"/>
              </a:rPr>
              <a:t>33 INF DIV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28255" y="137160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 i="0" spc="40">
                <a:solidFill>
                  <a:srgbClr val="B08D57"/>
                </a:solidFill>
                <a:latin typeface="Arial"/>
              </a:rPr>
              <a:t>EX DURJOY GHATI (CAX)-19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 i="1">
                <a:solidFill>
                  <a:srgbClr val="B08D57"/>
                </a:solidFill>
                <a:latin typeface="Arial"/>
              </a:rPr>
              <a:t>OFFICIAL / FOR BRIEFING USE ONLY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02920"/>
            <a:ext cx="1109441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200" b="1" i="0" spc="150">
                <a:solidFill>
                  <a:srgbClr val="1B1F23"/>
                </a:solidFill>
                <a:latin typeface="Arial"/>
              </a:rPr>
              <a:t>AGENDA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48640" y="1298448"/>
            <a:ext cx="11094415" cy="0"/>
          </a:xfrm>
          <a:prstGeom prst="line">
            <a:avLst/>
          </a:prstGeom>
          <a:ln w="19050">
            <a:solidFill>
              <a:srgbClr val="B08D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48640" y="1783080"/>
            <a:ext cx="8229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4B5320"/>
                </a:solidFill>
                <a:latin typeface="Arial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1783080"/>
            <a:ext cx="10271455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B1F23"/>
                </a:solidFill>
                <a:latin typeface="Arial"/>
              </a:rPr>
              <a:t>Aim &amp; Objectives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441448"/>
            <a:ext cx="8229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4B5320"/>
                </a:solidFill>
                <a:latin typeface="Arial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441448"/>
            <a:ext cx="10271455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B1F23"/>
                </a:solidFill>
                <a:latin typeface="Arial"/>
              </a:rPr>
              <a:t>Exercise Framework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099816"/>
            <a:ext cx="8229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4B5320"/>
                </a:solidFill>
                <a:latin typeface="Arial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3099816"/>
            <a:ext cx="10271455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B1F23"/>
                </a:solidFill>
                <a:latin typeface="Arial"/>
              </a:rPr>
              <a:t>Lessons Matrix — Overview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758184"/>
            <a:ext cx="8229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4B5320"/>
                </a:solidFill>
                <a:latin typeface="Arial"/>
              </a:rPr>
              <a:t>4.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758184"/>
            <a:ext cx="10271455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B1F23"/>
                </a:solidFill>
                <a:latin typeface="Arial"/>
              </a:rPr>
              <a:t>Attainment Process by Phase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4416552"/>
            <a:ext cx="8229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4B5320"/>
                </a:solidFill>
                <a:latin typeface="Arial"/>
              </a:rPr>
              <a:t>5.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4416552"/>
            <a:ext cx="10271455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B1F23"/>
                </a:solidFill>
                <a:latin typeface="Arial"/>
              </a:rPr>
              <a:t>Key Takeaways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5074920"/>
            <a:ext cx="8229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4B5320"/>
                </a:solidFill>
                <a:latin typeface="Arial"/>
              </a:rPr>
              <a:t>6.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5074920"/>
            <a:ext cx="10271455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B1F23"/>
                </a:solidFill>
                <a:latin typeface="Arial"/>
              </a:rPr>
              <a:t>Recommendations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814255" y="6473952"/>
            <a:ext cx="182880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E279B469-17A0-472A-80FC-EFD19CDF07F9}" type="slidenum">
              <a:rPr lang="en-US" sz="1600" b="1">
                <a:solidFill>
                  <a:srgbClr val="B08D57"/>
                </a:solidFill>
                <a:latin typeface="Arial"/>
              </a:rPr>
              <a:t>1</a:t>
            </a:fld>
            <a:r>
              <a:rPr sz="1600" b="1">
                <a:solidFill>
                  <a:srgbClr val="B08D57"/>
                </a:solidFill>
                <a:latin typeface="Arial"/>
              </a:rPr>
              <a:t> /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 spc="60">
                <a:solidFill>
                  <a:srgbClr val="B08D57"/>
                </a:solidFill>
                <a:latin typeface="Arial"/>
              </a:rPr>
              <a:t>33 INF DIV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28255" y="137160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 i="0" spc="40">
                <a:solidFill>
                  <a:srgbClr val="B08D57"/>
                </a:solidFill>
                <a:latin typeface="Arial"/>
              </a:rPr>
              <a:t>EX DURJOY GHATI (CAX)-19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 i="1">
                <a:solidFill>
                  <a:srgbClr val="B08D57"/>
                </a:solidFill>
                <a:latin typeface="Arial"/>
              </a:rPr>
              <a:t>OFFICIAL / FOR BRIEFING USE ONLY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02920"/>
            <a:ext cx="1109441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200" b="1" i="0" spc="150">
                <a:solidFill>
                  <a:srgbClr val="1B1F23"/>
                </a:solidFill>
                <a:latin typeface="Arial"/>
              </a:rPr>
              <a:t>AIM &amp; OBJECTIVES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48640" y="1298448"/>
            <a:ext cx="11094415" cy="0"/>
          </a:xfrm>
          <a:prstGeom prst="line">
            <a:avLst/>
          </a:prstGeom>
          <a:ln w="19050">
            <a:solidFill>
              <a:srgbClr val="B08D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48640" y="1600200"/>
            <a:ext cx="110944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4B5320"/>
                </a:solidFill>
                <a:latin typeface="Arial"/>
              </a:rPr>
              <a:t>AIM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103120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0" i="0">
                <a:solidFill>
                  <a:srgbClr val="1B1F23"/>
                </a:solidFill>
                <a:latin typeface="Arial"/>
              </a:rPr>
              <a:t>To validate the Division's operational and logistics plans through a simultaneous offensive-defensive command post exercise astride the IB.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48640" y="3063240"/>
            <a:ext cx="11094415" cy="0"/>
          </a:xfrm>
          <a:prstGeom prst="line">
            <a:avLst/>
          </a:prstGeom>
          <a:ln w="12700">
            <a:solidFill>
              <a:srgbClr val="4B53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48640" y="3246120"/>
            <a:ext cx="110944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4B5320"/>
                </a:solidFill>
                <a:latin typeface="Arial"/>
              </a:rPr>
              <a:t>OBJECTIVES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794760"/>
            <a:ext cx="5486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4B5320"/>
                </a:solidFill>
                <a:latin typeface="Arial"/>
              </a:rPr>
              <a:t>1.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3794760"/>
            <a:ext cx="10545775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1B1F23"/>
                </a:solidFill>
                <a:latin typeface="Arial"/>
              </a:rPr>
              <a:t>Validate the Division Operations Plan iaw Planning Directive 1/2025.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361688"/>
            <a:ext cx="5486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4B5320"/>
                </a:solidFill>
                <a:latin typeface="Arial"/>
              </a:rPr>
              <a:t>2.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4361688"/>
            <a:ext cx="10545775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1B1F23"/>
                </a:solidFill>
                <a:latin typeface="Arial"/>
              </a:rPr>
              <a:t>Validate offensive feasibility across the IB by a bde gp and capture area of tac advantage.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4928616"/>
            <a:ext cx="5486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4B5320"/>
                </a:solidFill>
                <a:latin typeface="Arial"/>
              </a:rPr>
              <a:t>3.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4928616"/>
            <a:ext cx="10545775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1B1F23"/>
                </a:solidFill>
                <a:latin typeface="Arial"/>
              </a:rPr>
              <a:t>Assess the viability of the log plan to support the Ops Plan.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5495544"/>
            <a:ext cx="5486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4B5320"/>
                </a:solidFill>
                <a:latin typeface="Arial"/>
              </a:rPr>
              <a:t>4.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" y="5495544"/>
            <a:ext cx="10545775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1B1F23"/>
                </a:solidFill>
                <a:latin typeface="Arial"/>
              </a:rPr>
              <a:t>Examine the effectiveness of employing UWF/volunteers within the div AOP.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814255" y="6473952"/>
            <a:ext cx="182880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48FFF5A1-DDA6-460F-8F45-A1C37A6932C2}" type="slidenum">
              <a:rPr lang="en-US" sz="1600" b="1">
                <a:solidFill>
                  <a:srgbClr val="B08D57"/>
                </a:solidFill>
                <a:latin typeface="Arial"/>
              </a:rPr>
              <a:t>1</a:t>
            </a:fld>
            <a:r>
              <a:rPr sz="1600" b="1">
                <a:solidFill>
                  <a:srgbClr val="B08D57"/>
                </a:solidFill>
                <a:latin typeface="Arial"/>
              </a:rPr>
              <a:t> /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 spc="60">
                <a:solidFill>
                  <a:srgbClr val="B08D57"/>
                </a:solidFill>
                <a:latin typeface="Arial"/>
              </a:rPr>
              <a:t>33 INF DIV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28255" y="137160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 i="0" spc="40">
                <a:solidFill>
                  <a:srgbClr val="B08D57"/>
                </a:solidFill>
                <a:latin typeface="Arial"/>
              </a:rPr>
              <a:t>EX DURJOY GHATI (CAX)-19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 i="1">
                <a:solidFill>
                  <a:srgbClr val="B08D57"/>
                </a:solidFill>
                <a:latin typeface="Arial"/>
              </a:rPr>
              <a:t>OFFICIAL / FOR BRIEFING USE ONLY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02920"/>
            <a:ext cx="1109441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200" b="1" i="0" spc="150">
                <a:solidFill>
                  <a:srgbClr val="1B1F23"/>
                </a:solidFill>
                <a:latin typeface="Arial"/>
              </a:rPr>
              <a:t>EXERCISE FRAMEWORK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48640" y="1298448"/>
            <a:ext cx="11094415" cy="0"/>
          </a:xfrm>
          <a:prstGeom prst="line">
            <a:avLst/>
          </a:prstGeom>
          <a:ln w="19050">
            <a:solidFill>
              <a:srgbClr val="B08D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48640" y="1920240"/>
            <a:ext cx="2362123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4B5320"/>
                </a:solidFill>
                <a:latin typeface="Arial"/>
              </a:rPr>
              <a:t>PREP STAGE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697480"/>
            <a:ext cx="2362123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0" i="0">
                <a:solidFill>
                  <a:srgbClr val="1B1F23"/>
                </a:solidFill>
                <a:latin typeface="Arial"/>
              </a:rPr>
              <a:t>IPB, Ops Plan formulation, FUP / IB crossing site and Blocking Posn selection.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322243.75" y="1920240"/>
            <a:ext cx="0.0" cy="3291840"/>
          </a:xfrm>
          <a:prstGeom prst="line">
            <a:avLst/>
          </a:prstGeom>
          <a:ln w="12700">
            <a:solidFill>
              <a:srgbClr val="B08D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3550843" y="1920240"/>
            <a:ext cx="2362123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4B5320"/>
                </a:solidFill>
                <a:latin typeface="Arial"/>
              </a:rPr>
              <a:t>PS-1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50843" y="2697480"/>
            <a:ext cx="2362123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0" i="0">
                <a:solidFill>
                  <a:srgbClr val="1B1F23"/>
                </a:solidFill>
                <a:latin typeface="Arial"/>
              </a:rPr>
              <a:t>Offensive launch across the IB (North) with concurrent defensive organisation (South).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095847.5" y="1920240"/>
            <a:ext cx="0.0" cy="3291840"/>
          </a:xfrm>
          <a:prstGeom prst="line">
            <a:avLst/>
          </a:prstGeom>
          <a:ln w="12700">
            <a:solidFill>
              <a:srgbClr val="B08D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324447" y="1920240"/>
            <a:ext cx="2362123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4B5320"/>
                </a:solidFill>
                <a:latin typeface="Arial"/>
              </a:rPr>
              <a:t>PS-2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24447" y="2697480"/>
            <a:ext cx="2362123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0" i="0">
                <a:solidFill>
                  <a:srgbClr val="1B1F23"/>
                </a:solidFill>
                <a:latin typeface="Arial"/>
              </a:rPr>
              <a:t>Advance and capture in the North; brigade-resourced attack in the South.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869451.25" y="1920240"/>
            <a:ext cx="0.0" cy="3291840"/>
          </a:xfrm>
          <a:prstGeom prst="line">
            <a:avLst/>
          </a:prstGeom>
          <a:ln w="12700">
            <a:solidFill>
              <a:srgbClr val="B08D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9098051" y="1920240"/>
            <a:ext cx="2362123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4B5320"/>
                </a:solidFill>
                <a:latin typeface="Arial"/>
              </a:rPr>
              <a:t>PS-3 / PS-4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98051" y="2697480"/>
            <a:ext cx="2362123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0" i="0">
                <a:solidFill>
                  <a:srgbClr val="1B1F23"/>
                </a:solidFill>
                <a:latin typeface="Arial"/>
              </a:rPr>
              <a:t>Defence against RL counter-attacks; div resource allocation and climax decisions.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814255" y="6473952"/>
            <a:ext cx="182880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F2C5A1DF-6716-493D-A664-90BC0A331AE6}" type="slidenum">
              <a:rPr lang="en-US" sz="1600" b="1">
                <a:solidFill>
                  <a:srgbClr val="B08D57"/>
                </a:solidFill>
                <a:latin typeface="Arial"/>
              </a:rPr>
              <a:t>1</a:t>
            </a:fld>
            <a:r>
              <a:rPr sz="1600" b="1">
                <a:solidFill>
                  <a:srgbClr val="B08D57"/>
                </a:solidFill>
                <a:latin typeface="Arial"/>
              </a:rPr>
              <a:t> /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 spc="60">
                <a:solidFill>
                  <a:srgbClr val="B08D57"/>
                </a:solidFill>
                <a:latin typeface="Arial"/>
              </a:rPr>
              <a:t>33 INF DIV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28255" y="137160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 i="0" spc="40">
                <a:solidFill>
                  <a:srgbClr val="B08D57"/>
                </a:solidFill>
                <a:latin typeface="Arial"/>
              </a:rPr>
              <a:t>EX DURJOY GHATI (CAX)-19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 i="1">
                <a:solidFill>
                  <a:srgbClr val="B08D57"/>
                </a:solidFill>
                <a:latin typeface="Arial"/>
              </a:rPr>
              <a:t>OFFICIAL / FOR BRIEFING USE ONLY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02920"/>
            <a:ext cx="1109441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200" b="1" i="0" spc="150">
                <a:solidFill>
                  <a:srgbClr val="1B1F23"/>
                </a:solidFill>
                <a:latin typeface="Arial"/>
              </a:rPr>
              <a:t>LESSONS MATRIX — OVERVIEW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48640" y="1298448"/>
            <a:ext cx="11094415" cy="0"/>
          </a:xfrm>
          <a:prstGeom prst="line">
            <a:avLst/>
          </a:prstGeom>
          <a:ln w="19050">
            <a:solidFill>
              <a:srgbClr val="B08D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691640"/>
          <a:ext cx="11094415" cy="416052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097280"/>
                <a:gridCol w="9997135"/>
              </a:tblGrid>
              <a:tr h="50292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2200" b="1">
                          <a:solidFill>
                            <a:srgbClr val="F4F2EC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anchor="ctr" marL="109728" marR="109728" marT="54864" marB="54864">
                    <a:lnB w="9525" cap="flat" cmpd="sng" algn="ctr">
                      <a:solidFill>
                        <a:srgbClr val="4B5320"/>
                      </a:solidFill>
                    </a:lnB>
                    <a:lnT w="9525" cap="flat" cmpd="sng" algn="ctr">
                      <a:solidFill>
                        <a:srgbClr val="4B5320"/>
                      </a:solidFill>
                    </a:lnT>
                    <a:lnR w="9525" cap="flat" cmpd="sng" algn="ctr">
                      <a:solidFill>
                        <a:srgbClr val="4B5320"/>
                      </a:solidFill>
                    </a:lnR>
                    <a:lnL w="9525" cap="flat" cmpd="sng" algn="ctr">
                      <a:solidFill>
                        <a:srgbClr val="4B5320"/>
                      </a:solidFill>
                    </a:lnL>
                    <a:solidFill>
                      <a:srgbClr val="4B532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2200" b="1">
                          <a:solidFill>
                            <a:srgbClr val="F4F2EC"/>
                          </a:solidFill>
                          <a:latin typeface="Arial"/>
                        </a:rPr>
                        <a:t>Lesson</a:t>
                      </a:r>
                    </a:p>
                  </a:txBody>
                  <a:tcPr anchor="ctr" marL="109728" marR="109728" marT="54864" marB="54864">
                    <a:lnB w="9525" cap="flat" cmpd="sng" algn="ctr">
                      <a:solidFill>
                        <a:srgbClr val="4B5320"/>
                      </a:solidFill>
                    </a:lnB>
                    <a:lnT w="9525" cap="flat" cmpd="sng" algn="ctr">
                      <a:solidFill>
                        <a:srgbClr val="4B5320"/>
                      </a:solidFill>
                    </a:lnT>
                    <a:lnR w="9525" cap="flat" cmpd="sng" algn="ctr">
                      <a:solidFill>
                        <a:srgbClr val="4B5320"/>
                      </a:solidFill>
                    </a:lnR>
                    <a:lnL w="9525" cap="flat" cmpd="sng" algn="ctr">
                      <a:solidFill>
                        <a:srgbClr val="4B5320"/>
                      </a:solidFill>
                    </a:lnL>
                    <a:solidFill>
                      <a:srgbClr val="4B5320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2400" b="1">
                          <a:solidFill>
                            <a:srgbClr val="4B5320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anchor="ctr" marL="109728" marR="109728" marT="54864" marB="54864">
                    <a:lnB w="9525" cap="flat" cmpd="sng" algn="ctr">
                      <a:solidFill>
                        <a:srgbClr val="4B5320"/>
                      </a:solidFill>
                    </a:lnB>
                    <a:lnT w="9525" cap="flat" cmpd="sng" algn="ctr">
                      <a:solidFill>
                        <a:srgbClr val="4B5320"/>
                      </a:solidFill>
                    </a:lnT>
                    <a:lnR w="9525" cap="flat" cmpd="sng" algn="ctr">
                      <a:solidFill>
                        <a:srgbClr val="4B5320"/>
                      </a:solidFill>
                    </a:lnR>
                    <a:lnL w="9525" cap="flat" cmpd="sng" algn="ctr">
                      <a:solidFill>
                        <a:srgbClr val="4B5320"/>
                      </a:solidFill>
                    </a:lnL>
                    <a:solidFill>
                      <a:srgbClr val="F4F2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2400" b="0">
                          <a:solidFill>
                            <a:srgbClr val="1B1F23"/>
                          </a:solidFill>
                          <a:latin typeface="Arial"/>
                        </a:rPr>
                        <a:t>Comprehensive planning, coordination and execution of offensive-defensive operations</a:t>
                      </a:r>
                    </a:p>
                  </a:txBody>
                  <a:tcPr anchor="ctr" marL="109728" marR="109728" marT="54864" marB="54864">
                    <a:lnB w="9525" cap="flat" cmpd="sng" algn="ctr">
                      <a:solidFill>
                        <a:srgbClr val="4B5320"/>
                      </a:solidFill>
                    </a:lnB>
                    <a:lnT w="9525" cap="flat" cmpd="sng" algn="ctr">
                      <a:solidFill>
                        <a:srgbClr val="4B5320"/>
                      </a:solidFill>
                    </a:lnT>
                    <a:lnR w="9525" cap="flat" cmpd="sng" algn="ctr">
                      <a:solidFill>
                        <a:srgbClr val="4B5320"/>
                      </a:solidFill>
                    </a:lnR>
                    <a:lnL w="9525" cap="flat" cmpd="sng" algn="ctr">
                      <a:solidFill>
                        <a:srgbClr val="4B5320"/>
                      </a:solidFill>
                    </a:lnL>
                    <a:solidFill>
                      <a:srgbClr val="F4F2EC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2400" b="1">
                          <a:solidFill>
                            <a:srgbClr val="4B5320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anchor="ctr" marL="109728" marR="109728" marT="54864" marB="54864">
                    <a:lnB w="9525" cap="flat" cmpd="sng" algn="ctr">
                      <a:solidFill>
                        <a:srgbClr val="4B5320"/>
                      </a:solidFill>
                    </a:lnB>
                    <a:lnT w="9525" cap="flat" cmpd="sng" algn="ctr">
                      <a:solidFill>
                        <a:srgbClr val="4B5320"/>
                      </a:solidFill>
                    </a:lnT>
                    <a:lnR w="9525" cap="flat" cmpd="sng" algn="ctr">
                      <a:solidFill>
                        <a:srgbClr val="4B5320"/>
                      </a:solidFill>
                    </a:lnR>
                    <a:lnL w="9525" cap="flat" cmpd="sng" algn="ctr">
                      <a:solidFill>
                        <a:srgbClr val="4B5320"/>
                      </a:solidFill>
                    </a:lnL>
                    <a:solidFill>
                      <a:srgbClr val="F4F2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2400" b="0">
                          <a:solidFill>
                            <a:srgbClr val="1B1F23"/>
                          </a:solidFill>
                          <a:latin typeface="Arial"/>
                        </a:rPr>
                        <a:t>Timely decision-making by commanders at division and brigade level</a:t>
                      </a:r>
                    </a:p>
                  </a:txBody>
                  <a:tcPr anchor="ctr" marL="109728" marR="109728" marT="54864" marB="54864">
                    <a:lnB w="9525" cap="flat" cmpd="sng" algn="ctr">
                      <a:solidFill>
                        <a:srgbClr val="4B5320"/>
                      </a:solidFill>
                    </a:lnB>
                    <a:lnT w="9525" cap="flat" cmpd="sng" algn="ctr">
                      <a:solidFill>
                        <a:srgbClr val="4B5320"/>
                      </a:solidFill>
                    </a:lnT>
                    <a:lnR w="9525" cap="flat" cmpd="sng" algn="ctr">
                      <a:solidFill>
                        <a:srgbClr val="4B5320"/>
                      </a:solidFill>
                    </a:lnR>
                    <a:lnL w="9525" cap="flat" cmpd="sng" algn="ctr">
                      <a:solidFill>
                        <a:srgbClr val="4B5320"/>
                      </a:solidFill>
                    </a:lnL>
                    <a:solidFill>
                      <a:srgbClr val="F4F2EC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2400" b="1">
                          <a:solidFill>
                            <a:srgbClr val="4B5320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anchor="ctr" marL="109728" marR="109728" marT="54864" marB="54864">
                    <a:lnB w="9525" cap="flat" cmpd="sng" algn="ctr">
                      <a:solidFill>
                        <a:srgbClr val="4B5320"/>
                      </a:solidFill>
                    </a:lnB>
                    <a:lnT w="9525" cap="flat" cmpd="sng" algn="ctr">
                      <a:solidFill>
                        <a:srgbClr val="4B5320"/>
                      </a:solidFill>
                    </a:lnT>
                    <a:lnR w="9525" cap="flat" cmpd="sng" algn="ctr">
                      <a:solidFill>
                        <a:srgbClr val="4B5320"/>
                      </a:solidFill>
                    </a:lnR>
                    <a:lnL w="9525" cap="flat" cmpd="sng" algn="ctr">
                      <a:solidFill>
                        <a:srgbClr val="4B5320"/>
                      </a:solidFill>
                    </a:lnL>
                    <a:solidFill>
                      <a:srgbClr val="F4F2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2400" b="0">
                          <a:solidFill>
                            <a:srgbClr val="1B1F23"/>
                          </a:solidFill>
                          <a:latin typeface="Arial"/>
                        </a:rPr>
                        <a:t>Sound logistics plan</a:t>
                      </a:r>
                    </a:p>
                  </a:txBody>
                  <a:tcPr anchor="ctr" marL="109728" marR="109728" marT="54864" marB="54864">
                    <a:lnB w="9525" cap="flat" cmpd="sng" algn="ctr">
                      <a:solidFill>
                        <a:srgbClr val="4B5320"/>
                      </a:solidFill>
                    </a:lnB>
                    <a:lnT w="9525" cap="flat" cmpd="sng" algn="ctr">
                      <a:solidFill>
                        <a:srgbClr val="4B5320"/>
                      </a:solidFill>
                    </a:lnT>
                    <a:lnR w="9525" cap="flat" cmpd="sng" algn="ctr">
                      <a:solidFill>
                        <a:srgbClr val="4B5320"/>
                      </a:solidFill>
                    </a:lnR>
                    <a:lnL w="9525" cap="flat" cmpd="sng" algn="ctr">
                      <a:solidFill>
                        <a:srgbClr val="4B5320"/>
                      </a:solidFill>
                    </a:lnL>
                    <a:solidFill>
                      <a:srgbClr val="F4F2EC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2400" b="1">
                          <a:solidFill>
                            <a:srgbClr val="4B5320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anchor="ctr" marL="109728" marR="109728" marT="54864" marB="54864">
                    <a:lnB w="9525" cap="flat" cmpd="sng" algn="ctr">
                      <a:solidFill>
                        <a:srgbClr val="4B5320"/>
                      </a:solidFill>
                    </a:lnB>
                    <a:lnT w="9525" cap="flat" cmpd="sng" algn="ctr">
                      <a:solidFill>
                        <a:srgbClr val="4B5320"/>
                      </a:solidFill>
                    </a:lnT>
                    <a:lnR w="9525" cap="flat" cmpd="sng" algn="ctr">
                      <a:solidFill>
                        <a:srgbClr val="4B5320"/>
                      </a:solidFill>
                    </a:lnR>
                    <a:lnL w="9525" cap="flat" cmpd="sng" algn="ctr">
                      <a:solidFill>
                        <a:srgbClr val="4B5320"/>
                      </a:solidFill>
                    </a:lnL>
                    <a:solidFill>
                      <a:srgbClr val="F4F2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2400" b="0">
                          <a:solidFill>
                            <a:srgbClr val="1B1F23"/>
                          </a:solidFill>
                          <a:latin typeface="Arial"/>
                        </a:rPr>
                        <a:t>Correct employment of UWF / volunteer forces</a:t>
                      </a:r>
                    </a:p>
                  </a:txBody>
                  <a:tcPr anchor="ctr" marL="109728" marR="109728" marT="54864" marB="54864">
                    <a:lnB w="9525" cap="flat" cmpd="sng" algn="ctr">
                      <a:solidFill>
                        <a:srgbClr val="4B5320"/>
                      </a:solidFill>
                    </a:lnB>
                    <a:lnT w="9525" cap="flat" cmpd="sng" algn="ctr">
                      <a:solidFill>
                        <a:srgbClr val="4B5320"/>
                      </a:solidFill>
                    </a:lnT>
                    <a:lnR w="9525" cap="flat" cmpd="sng" algn="ctr">
                      <a:solidFill>
                        <a:srgbClr val="4B5320"/>
                      </a:solidFill>
                    </a:lnR>
                    <a:lnL w="9525" cap="flat" cmpd="sng" algn="ctr">
                      <a:solidFill>
                        <a:srgbClr val="4B5320"/>
                      </a:solidFill>
                    </a:lnL>
                    <a:solidFill>
                      <a:srgbClr val="F4F2EC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2400" b="1">
                          <a:solidFill>
                            <a:srgbClr val="4B5320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anchor="ctr" marL="109728" marR="109728" marT="54864" marB="54864">
                    <a:lnB w="9525" cap="flat" cmpd="sng" algn="ctr">
                      <a:solidFill>
                        <a:srgbClr val="4B5320"/>
                      </a:solidFill>
                    </a:lnB>
                    <a:lnT w="9525" cap="flat" cmpd="sng" algn="ctr">
                      <a:solidFill>
                        <a:srgbClr val="4B5320"/>
                      </a:solidFill>
                    </a:lnT>
                    <a:lnR w="9525" cap="flat" cmpd="sng" algn="ctr">
                      <a:solidFill>
                        <a:srgbClr val="4B5320"/>
                      </a:solidFill>
                    </a:lnR>
                    <a:lnL w="9525" cap="flat" cmpd="sng" algn="ctr">
                      <a:solidFill>
                        <a:srgbClr val="4B5320"/>
                      </a:solidFill>
                    </a:lnL>
                    <a:solidFill>
                      <a:srgbClr val="F4F2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2400" b="0">
                          <a:solidFill>
                            <a:srgbClr val="1B1F23"/>
                          </a:solidFill>
                          <a:latin typeface="Arial"/>
                        </a:rPr>
                        <a:t>Correct procedure for conducting a CAX</a:t>
                      </a:r>
                    </a:p>
                  </a:txBody>
                  <a:tcPr anchor="ctr" marL="109728" marR="109728" marT="54864" marB="54864">
                    <a:lnB w="9525" cap="flat" cmpd="sng" algn="ctr">
                      <a:solidFill>
                        <a:srgbClr val="4B5320"/>
                      </a:solidFill>
                    </a:lnB>
                    <a:lnT w="9525" cap="flat" cmpd="sng" algn="ctr">
                      <a:solidFill>
                        <a:srgbClr val="4B5320"/>
                      </a:solidFill>
                    </a:lnT>
                    <a:lnR w="9525" cap="flat" cmpd="sng" algn="ctr">
                      <a:solidFill>
                        <a:srgbClr val="4B5320"/>
                      </a:solidFill>
                    </a:lnR>
                    <a:lnL w="9525" cap="flat" cmpd="sng" algn="ctr">
                      <a:solidFill>
                        <a:srgbClr val="4B5320"/>
                      </a:solidFill>
                    </a:lnL>
                    <a:solidFill>
                      <a:srgbClr val="F4F2EC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48640" y="5989320"/>
            <a:ext cx="110944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 i="1">
                <a:solidFill>
                  <a:srgbClr val="B08D57"/>
                </a:solidFill>
                <a:latin typeface="Arial"/>
              </a:rPr>
              <a:t>Detailed attainment process per phase — next slide.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814255" y="6473952"/>
            <a:ext cx="182880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050BA6EB-BF15-4A74-A2FB-7075DB97B26A}" type="slidenum">
              <a:rPr lang="en-US" sz="1600" b="1">
                <a:solidFill>
                  <a:srgbClr val="B08D57"/>
                </a:solidFill>
                <a:latin typeface="Arial"/>
              </a:rPr>
              <a:t>1</a:t>
            </a:fld>
            <a:r>
              <a:rPr sz="1600" b="1">
                <a:solidFill>
                  <a:srgbClr val="B08D57"/>
                </a:solidFill>
                <a:latin typeface="Arial"/>
              </a:rPr>
              <a:t> /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 spc="60">
                <a:solidFill>
                  <a:srgbClr val="B08D57"/>
                </a:solidFill>
                <a:latin typeface="Arial"/>
              </a:rPr>
              <a:t>33 INF DIV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28255" y="137160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 i="0" spc="40">
                <a:solidFill>
                  <a:srgbClr val="B08D57"/>
                </a:solidFill>
                <a:latin typeface="Arial"/>
              </a:rPr>
              <a:t>EX DURJOY GHATI (CAX)-19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 i="1">
                <a:solidFill>
                  <a:srgbClr val="B08D57"/>
                </a:solidFill>
                <a:latin typeface="Arial"/>
              </a:rPr>
              <a:t>OFFICIAL / FOR BRIEFING USE ONLY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02920"/>
            <a:ext cx="1109441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 spc="150">
                <a:solidFill>
                  <a:srgbClr val="1B1F23"/>
                </a:solidFill>
                <a:latin typeface="Arial"/>
              </a:rPr>
              <a:t>LESSON 1 — PLANNING, COORDINATION &amp; EXECUTION OF OFFN-DEF OPS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48640" y="1298448"/>
            <a:ext cx="11094415" cy="0"/>
          </a:xfrm>
          <a:prstGeom prst="line">
            <a:avLst/>
          </a:prstGeom>
          <a:ln w="19050">
            <a:solidFill>
              <a:srgbClr val="B08D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48640" y="1481328"/>
            <a:ext cx="1109441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4B5320"/>
                </a:solidFill>
                <a:latin typeface="Arial"/>
              </a:rPr>
              <a:t>Attainment Process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48640" y="1965960"/>
          <a:ext cx="11094415" cy="379476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463040"/>
                <a:gridCol w="9631375"/>
              </a:tblGrid>
              <a:tr h="4572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2200" b="1">
                          <a:solidFill>
                            <a:srgbClr val="F4F2EC"/>
                          </a:solidFill>
                          <a:latin typeface="Arial"/>
                        </a:rPr>
                        <a:t>Phase</a:t>
                      </a:r>
                    </a:p>
                  </a:txBody>
                  <a:tcPr anchor="ctr" marL="109728" marR="109728" marT="54864" marB="54864">
                    <a:lnB w="9525" cap="flat" cmpd="sng" algn="ctr">
                      <a:solidFill>
                        <a:srgbClr val="4B5320"/>
                      </a:solidFill>
                    </a:lnB>
                    <a:lnT w="9525" cap="flat" cmpd="sng" algn="ctr">
                      <a:solidFill>
                        <a:srgbClr val="4B5320"/>
                      </a:solidFill>
                    </a:lnT>
                    <a:lnR w="9525" cap="flat" cmpd="sng" algn="ctr">
                      <a:solidFill>
                        <a:srgbClr val="4B5320"/>
                      </a:solidFill>
                    </a:lnR>
                    <a:lnL w="9525" cap="flat" cmpd="sng" algn="ctr">
                      <a:solidFill>
                        <a:srgbClr val="4B5320"/>
                      </a:solidFill>
                    </a:lnL>
                    <a:solidFill>
                      <a:srgbClr val="4B532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2200" b="1">
                          <a:solidFill>
                            <a:srgbClr val="F4F2EC"/>
                          </a:solidFill>
                          <a:latin typeface="Arial"/>
                        </a:rPr>
                        <a:t>Key Activities</a:t>
                      </a:r>
                    </a:p>
                  </a:txBody>
                  <a:tcPr anchor="ctr" marL="109728" marR="109728" marT="54864" marB="54864">
                    <a:lnB w="9525" cap="flat" cmpd="sng" algn="ctr">
                      <a:solidFill>
                        <a:srgbClr val="4B5320"/>
                      </a:solidFill>
                    </a:lnB>
                    <a:lnT w="9525" cap="flat" cmpd="sng" algn="ctr">
                      <a:solidFill>
                        <a:srgbClr val="4B5320"/>
                      </a:solidFill>
                    </a:lnT>
                    <a:lnR w="9525" cap="flat" cmpd="sng" algn="ctr">
                      <a:solidFill>
                        <a:srgbClr val="4B5320"/>
                      </a:solidFill>
                    </a:lnR>
                    <a:lnL w="9525" cap="flat" cmpd="sng" algn="ctr">
                      <a:solidFill>
                        <a:srgbClr val="4B5320"/>
                      </a:solidFill>
                    </a:lnL>
                    <a:solidFill>
                      <a:srgbClr val="4B5320"/>
                    </a:solidFill>
                  </a:tcPr>
                </a:tc>
              </a:tr>
              <a:tr h="667512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2200" b="1">
                          <a:solidFill>
                            <a:srgbClr val="4B5320"/>
                          </a:solidFill>
                          <a:latin typeface="Arial"/>
                        </a:rPr>
                        <a:t>Prep Stage</a:t>
                      </a:r>
                    </a:p>
                  </a:txBody>
                  <a:tcPr anchor="ctr" marL="109728" marR="109728" marT="54864" marB="54864">
                    <a:lnB w="9525" cap="flat" cmpd="sng" algn="ctr">
                      <a:solidFill>
                        <a:srgbClr val="4B5320"/>
                      </a:solidFill>
                    </a:lnB>
                    <a:lnT w="9525" cap="flat" cmpd="sng" algn="ctr">
                      <a:solidFill>
                        <a:srgbClr val="4B5320"/>
                      </a:solidFill>
                    </a:lnT>
                    <a:lnR w="9525" cap="flat" cmpd="sng" algn="ctr">
                      <a:solidFill>
                        <a:srgbClr val="4B5320"/>
                      </a:solidFill>
                    </a:lnR>
                    <a:lnL w="9525" cap="flat" cmpd="sng" algn="ctr">
                      <a:solidFill>
                        <a:srgbClr val="4B5320"/>
                      </a:solidFill>
                    </a:lnL>
                    <a:solidFill>
                      <a:srgbClr val="F4F2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2000" b="0">
                          <a:solidFill>
                            <a:srgbClr val="1B1F23"/>
                          </a:solidFill>
                          <a:latin typeface="Arial"/>
                        </a:rPr>
                        <a:t>1. IPB/DDMP identifies AAs and en disposn (RL 11 TSR–115 Maratha).</a:t>
                      </a:r>
                    </a:p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2000" b="0">
                          <a:solidFill>
                            <a:srgbClr val="1B1F23"/>
                          </a:solidFill>
                          <a:latin typeface="Arial"/>
                        </a:rPr>
                        <a:t>2. Ops Plan for simultaneous offn (201 Bde) and def (144 Bde).</a:t>
                      </a:r>
                    </a:p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2000" b="0">
                          <a:solidFill>
                            <a:srgbClr val="1B1F23"/>
                          </a:solidFill>
                          <a:latin typeface="Arial"/>
                        </a:rPr>
                        <a:t>3. FUP, IB Xing site and Blocking Posn selected.</a:t>
                      </a:r>
                    </a:p>
                  </a:txBody>
                  <a:tcPr anchor="ctr" marL="109728" marR="109728" marT="54864" marB="54864">
                    <a:lnB w="9525" cap="flat" cmpd="sng" algn="ctr">
                      <a:solidFill>
                        <a:srgbClr val="4B5320"/>
                      </a:solidFill>
                    </a:lnB>
                    <a:lnT w="9525" cap="flat" cmpd="sng" algn="ctr">
                      <a:solidFill>
                        <a:srgbClr val="4B5320"/>
                      </a:solidFill>
                    </a:lnT>
                    <a:lnR w="9525" cap="flat" cmpd="sng" algn="ctr">
                      <a:solidFill>
                        <a:srgbClr val="4B5320"/>
                      </a:solidFill>
                    </a:lnR>
                    <a:lnL w="9525" cap="flat" cmpd="sng" algn="ctr">
                      <a:solidFill>
                        <a:srgbClr val="4B5320"/>
                      </a:solidFill>
                    </a:lnL>
                    <a:solidFill>
                      <a:srgbClr val="F4F2EC"/>
                    </a:solidFill>
                  </a:tcPr>
                </a:tc>
              </a:tr>
              <a:tr h="667512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2200" b="1">
                          <a:solidFill>
                            <a:srgbClr val="4B5320"/>
                          </a:solidFill>
                          <a:latin typeface="Arial"/>
                        </a:rPr>
                        <a:t>PS-1</a:t>
                      </a:r>
                    </a:p>
                  </a:txBody>
                  <a:tcPr anchor="ctr" marL="109728" marR="109728" marT="54864" marB="54864">
                    <a:lnB w="9525" cap="flat" cmpd="sng" algn="ctr">
                      <a:solidFill>
                        <a:srgbClr val="4B5320"/>
                      </a:solidFill>
                    </a:lnB>
                    <a:lnT w="9525" cap="flat" cmpd="sng" algn="ctr">
                      <a:solidFill>
                        <a:srgbClr val="4B5320"/>
                      </a:solidFill>
                    </a:lnT>
                    <a:lnR w="9525" cap="flat" cmpd="sng" algn="ctr">
                      <a:solidFill>
                        <a:srgbClr val="4B5320"/>
                      </a:solidFill>
                    </a:lnR>
                    <a:lnL w="9525" cap="flat" cmpd="sng" algn="ctr">
                      <a:solidFill>
                        <a:srgbClr val="4B5320"/>
                      </a:solidFill>
                    </a:lnL>
                    <a:solidFill>
                      <a:srgbClr val="F4F2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2000" b="0">
                          <a:solidFill>
                            <a:srgbClr val="1B1F23"/>
                          </a:solidFill>
                          <a:latin typeface="Arial"/>
                        </a:rPr>
                        <a:t>1. 201 Bde launches offn X IB at KASBA.</a:t>
                      </a:r>
                    </a:p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2000" b="0">
                          <a:solidFill>
                            <a:srgbClr val="1B1F23"/>
                          </a:solidFill>
                          <a:latin typeface="Arial"/>
                        </a:rPr>
                        <a:t>2. 144 Bde orgs def/Blocking Posn vs RL 8 Dogra Regt.</a:t>
                      </a:r>
                    </a:p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2000" b="0">
                          <a:solidFill>
                            <a:srgbClr val="1B1F23"/>
                          </a:solidFill>
                          <a:latin typeface="Arial"/>
                        </a:rPr>
                        <a:t>3. Div HQ coord both sectors via common op pic.</a:t>
                      </a:r>
                    </a:p>
                  </a:txBody>
                  <a:tcPr anchor="ctr" marL="109728" marR="109728" marT="54864" marB="54864">
                    <a:lnB w="9525" cap="flat" cmpd="sng" algn="ctr">
                      <a:solidFill>
                        <a:srgbClr val="4B5320"/>
                      </a:solidFill>
                    </a:lnB>
                    <a:lnT w="9525" cap="flat" cmpd="sng" algn="ctr">
                      <a:solidFill>
                        <a:srgbClr val="4B5320"/>
                      </a:solidFill>
                    </a:lnT>
                    <a:lnR w="9525" cap="flat" cmpd="sng" algn="ctr">
                      <a:solidFill>
                        <a:srgbClr val="4B5320"/>
                      </a:solidFill>
                    </a:lnR>
                    <a:lnL w="9525" cap="flat" cmpd="sng" algn="ctr">
                      <a:solidFill>
                        <a:srgbClr val="4B5320"/>
                      </a:solidFill>
                    </a:lnL>
                    <a:solidFill>
                      <a:srgbClr val="F4F2EC"/>
                    </a:solidFill>
                  </a:tcPr>
                </a:tc>
              </a:tr>
              <a:tr h="667512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2200" b="1">
                          <a:solidFill>
                            <a:srgbClr val="4B5320"/>
                          </a:solidFill>
                          <a:latin typeface="Arial"/>
                        </a:rPr>
                        <a:t>PS-2</a:t>
                      </a:r>
                    </a:p>
                  </a:txBody>
                  <a:tcPr anchor="ctr" marL="109728" marR="109728" marT="54864" marB="54864">
                    <a:lnB w="9525" cap="flat" cmpd="sng" algn="ctr">
                      <a:solidFill>
                        <a:srgbClr val="4B5320"/>
                      </a:solidFill>
                    </a:lnB>
                    <a:lnT w="9525" cap="flat" cmpd="sng" algn="ctr">
                      <a:solidFill>
                        <a:srgbClr val="4B5320"/>
                      </a:solidFill>
                    </a:lnT>
                    <a:lnR w="9525" cap="flat" cmpd="sng" algn="ctr">
                      <a:solidFill>
                        <a:srgbClr val="4B5320"/>
                      </a:solidFill>
                    </a:lnR>
                    <a:lnL w="9525" cap="flat" cmpd="sng" algn="ctr">
                      <a:solidFill>
                        <a:srgbClr val="4B5320"/>
                      </a:solidFill>
                    </a:lnL>
                    <a:solidFill>
                      <a:srgbClr val="F4F2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2000" b="0">
                          <a:solidFill>
                            <a:srgbClr val="1B1F23"/>
                          </a:solidFill>
                          <a:latin typeface="Arial"/>
                        </a:rPr>
                        <a:t>1. Adv resumes; BISHALGARH captured (North).</a:t>
                      </a:r>
                    </a:p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2000" b="0">
                          <a:solidFill>
                            <a:srgbClr val="1B1F23"/>
                          </a:solidFill>
                          <a:latin typeface="Arial"/>
                        </a:rPr>
                        <a:t>2. Bde-resourced attk on RL Blocking Posn (South).</a:t>
                      </a:r>
                    </a:p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2000" b="0">
                          <a:solidFill>
                            <a:srgbClr val="1B1F23"/>
                          </a:solidFill>
                          <a:latin typeface="Arial"/>
                        </a:rPr>
                        <a:t>3. Div HQ realloc arty/engr resource across bdes.</a:t>
                      </a:r>
                    </a:p>
                  </a:txBody>
                  <a:tcPr anchor="ctr" marL="109728" marR="109728" marT="54864" marB="54864">
                    <a:lnB w="9525" cap="flat" cmpd="sng" algn="ctr">
                      <a:solidFill>
                        <a:srgbClr val="4B5320"/>
                      </a:solidFill>
                    </a:lnB>
                    <a:lnT w="9525" cap="flat" cmpd="sng" algn="ctr">
                      <a:solidFill>
                        <a:srgbClr val="4B5320"/>
                      </a:solidFill>
                    </a:lnT>
                    <a:lnR w="9525" cap="flat" cmpd="sng" algn="ctr">
                      <a:solidFill>
                        <a:srgbClr val="4B5320"/>
                      </a:solidFill>
                    </a:lnR>
                    <a:lnL w="9525" cap="flat" cmpd="sng" algn="ctr">
                      <a:solidFill>
                        <a:srgbClr val="4B5320"/>
                      </a:solidFill>
                    </a:lnL>
                    <a:solidFill>
                      <a:srgbClr val="F4F2EC"/>
                    </a:solidFill>
                  </a:tcPr>
                </a:tc>
              </a:tr>
              <a:tr h="667512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2200" b="1">
                          <a:solidFill>
                            <a:srgbClr val="4B5320"/>
                          </a:solidFill>
                          <a:latin typeface="Arial"/>
                        </a:rPr>
                        <a:t>PS-3</a:t>
                      </a:r>
                    </a:p>
                  </a:txBody>
                  <a:tcPr anchor="ctr" marL="109728" marR="109728" marT="54864" marB="54864">
                    <a:lnB w="9525" cap="flat" cmpd="sng" algn="ctr">
                      <a:solidFill>
                        <a:srgbClr val="4B5320"/>
                      </a:solidFill>
                    </a:lnB>
                    <a:lnT w="9525" cap="flat" cmpd="sng" algn="ctr">
                      <a:solidFill>
                        <a:srgbClr val="4B5320"/>
                      </a:solidFill>
                    </a:lnT>
                    <a:lnR w="9525" cap="flat" cmpd="sng" algn="ctr">
                      <a:solidFill>
                        <a:srgbClr val="4B5320"/>
                      </a:solidFill>
                    </a:lnR>
                    <a:lnL w="9525" cap="flat" cmpd="sng" algn="ctr">
                      <a:solidFill>
                        <a:srgbClr val="4B5320"/>
                      </a:solidFill>
                    </a:lnL>
                    <a:solidFill>
                      <a:srgbClr val="F4F2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2000" b="0">
                          <a:solidFill>
                            <a:srgbClr val="1B1F23"/>
                          </a:solidFill>
                          <a:latin typeface="Arial"/>
                        </a:rPr>
                        <a:t>1. BISHALGARH def vs RL quick attk (North).</a:t>
                      </a:r>
                    </a:p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2000" b="0">
                          <a:solidFill>
                            <a:srgbClr val="1B1F23"/>
                          </a:solidFill>
                          <a:latin typeface="Arial"/>
                        </a:rPr>
                        <a:t>2. Div-resourced attk on Blocking Posn with fire/engr sp (South).</a:t>
                      </a:r>
                    </a:p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2000" b="0">
                          <a:solidFill>
                            <a:srgbClr val="1B1F23"/>
                          </a:solidFill>
                          <a:latin typeface="Arial"/>
                        </a:rPr>
                        <a:t>3. Simultaneous offn-def coord at div lvl.</a:t>
                      </a:r>
                    </a:p>
                  </a:txBody>
                  <a:tcPr anchor="ctr" marL="109728" marR="109728" marT="54864" marB="54864">
                    <a:lnB w="9525" cap="flat" cmpd="sng" algn="ctr">
                      <a:solidFill>
                        <a:srgbClr val="4B5320"/>
                      </a:solidFill>
                    </a:lnB>
                    <a:lnT w="9525" cap="flat" cmpd="sng" algn="ctr">
                      <a:solidFill>
                        <a:srgbClr val="4B5320"/>
                      </a:solidFill>
                    </a:lnT>
                    <a:lnR w="9525" cap="flat" cmpd="sng" algn="ctr">
                      <a:solidFill>
                        <a:srgbClr val="4B5320"/>
                      </a:solidFill>
                    </a:lnR>
                    <a:lnL w="9525" cap="flat" cmpd="sng" algn="ctr">
                      <a:solidFill>
                        <a:srgbClr val="4B5320"/>
                      </a:solidFill>
                    </a:lnL>
                    <a:solidFill>
                      <a:srgbClr val="F4F2EC"/>
                    </a:solidFill>
                  </a:tcPr>
                </a:tc>
              </a:tr>
              <a:tr h="667512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2200" b="1">
                          <a:solidFill>
                            <a:srgbClr val="4B5320"/>
                          </a:solidFill>
                          <a:latin typeface="Arial"/>
                        </a:rPr>
                        <a:t>PS-4</a:t>
                      </a:r>
                    </a:p>
                  </a:txBody>
                  <a:tcPr anchor="ctr" marL="109728" marR="109728" marT="54864" marB="54864">
                    <a:lnB w="9525" cap="flat" cmpd="sng" algn="ctr">
                      <a:solidFill>
                        <a:srgbClr val="4B5320"/>
                      </a:solidFill>
                    </a:lnB>
                    <a:lnT w="9525" cap="flat" cmpd="sng" algn="ctr">
                      <a:solidFill>
                        <a:srgbClr val="4B5320"/>
                      </a:solidFill>
                    </a:lnT>
                    <a:lnR w="9525" cap="flat" cmpd="sng" algn="ctr">
                      <a:solidFill>
                        <a:srgbClr val="4B5320"/>
                      </a:solidFill>
                    </a:lnR>
                    <a:lnL w="9525" cap="flat" cmpd="sng" algn="ctr">
                      <a:solidFill>
                        <a:srgbClr val="4B5320"/>
                      </a:solidFill>
                    </a:lnL>
                    <a:solidFill>
                      <a:srgbClr val="F4F2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2000" b="0">
                          <a:solidFill>
                            <a:srgbClr val="1B1F23"/>
                          </a:solidFill>
                          <a:latin typeface="Arial"/>
                        </a:rPr>
                        <a:t>1. BISHALGARH def vs RL deliberate attk.</a:t>
                      </a:r>
                    </a:p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2000" b="0">
                          <a:solidFill>
                            <a:srgbClr val="1B1F23"/>
                          </a:solidFill>
                          <a:latin typeface="Arial"/>
                        </a:rPr>
                        <a:t>2. Bde/Div Res coord to restore Bn C Pen.</a:t>
                      </a:r>
                    </a:p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2000" b="0">
                          <a:solidFill>
                            <a:srgbClr val="1B1F23"/>
                          </a:solidFill>
                          <a:latin typeface="Arial"/>
                        </a:rPr>
                        <a:t>3. Decision: cont def or wdr to depth posn.</a:t>
                      </a:r>
                    </a:p>
                  </a:txBody>
                  <a:tcPr anchor="ctr" marL="109728" marR="109728" marT="54864" marB="54864">
                    <a:lnB w="9525" cap="flat" cmpd="sng" algn="ctr">
                      <a:solidFill>
                        <a:srgbClr val="4B5320"/>
                      </a:solidFill>
                    </a:lnB>
                    <a:lnT w="9525" cap="flat" cmpd="sng" algn="ctr">
                      <a:solidFill>
                        <a:srgbClr val="4B5320"/>
                      </a:solidFill>
                    </a:lnT>
                    <a:lnR w="9525" cap="flat" cmpd="sng" algn="ctr">
                      <a:solidFill>
                        <a:srgbClr val="4B5320"/>
                      </a:solidFill>
                    </a:lnR>
                    <a:lnL w="9525" cap="flat" cmpd="sng" algn="ctr">
                      <a:solidFill>
                        <a:srgbClr val="4B5320"/>
                      </a:solidFill>
                    </a:lnL>
                    <a:solidFill>
                      <a:srgbClr val="F4F2EC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48640" y="6080760"/>
            <a:ext cx="1109441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 i="1">
                <a:solidFill>
                  <a:srgbClr val="B08D57"/>
                </a:solidFill>
                <a:latin typeface="Arial"/>
              </a:rPr>
              <a:t>Source: EX DURJOY GHATI Obj-Lessons Matrix, 33 Inf Div.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814255" y="6473952"/>
            <a:ext cx="182880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774E519C-974F-46E6-B843-E63C3C86468A}" type="slidenum">
              <a:rPr lang="en-US" sz="1600" b="1">
                <a:solidFill>
                  <a:srgbClr val="B08D57"/>
                </a:solidFill>
                <a:latin typeface="Arial"/>
              </a:rPr>
              <a:t>1</a:t>
            </a:fld>
            <a:r>
              <a:rPr sz="1600" b="1">
                <a:solidFill>
                  <a:srgbClr val="B08D57"/>
                </a:solidFill>
                <a:latin typeface="Arial"/>
              </a:rPr>
              <a:t> /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 spc="60">
                <a:solidFill>
                  <a:srgbClr val="B08D57"/>
                </a:solidFill>
                <a:latin typeface="Arial"/>
              </a:rPr>
              <a:t>33 INF DIV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28255" y="137160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 i="0" spc="40">
                <a:solidFill>
                  <a:srgbClr val="B08D57"/>
                </a:solidFill>
                <a:latin typeface="Arial"/>
              </a:rPr>
              <a:t>EX DURJOY GHATI (CAX)-19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 i="1">
                <a:solidFill>
                  <a:srgbClr val="B08D57"/>
                </a:solidFill>
                <a:latin typeface="Arial"/>
              </a:rPr>
              <a:t>OFFICIAL / FOR BRIEFING USE ONLY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02920"/>
            <a:ext cx="1109441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 spc="150">
                <a:solidFill>
                  <a:srgbClr val="1B1F23"/>
                </a:solidFill>
                <a:latin typeface="Arial"/>
              </a:rPr>
              <a:t>LESSON 2 — TIMELY DECISION-MAKING BY COMMANDERS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48640" y="1298448"/>
            <a:ext cx="11094415" cy="0"/>
          </a:xfrm>
          <a:prstGeom prst="line">
            <a:avLst/>
          </a:prstGeom>
          <a:ln w="19050">
            <a:solidFill>
              <a:srgbClr val="B08D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48640" y="1481328"/>
            <a:ext cx="1109441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4B5320"/>
                </a:solidFill>
                <a:latin typeface="Arial"/>
              </a:rPr>
              <a:t>Attainment Process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48640" y="1965960"/>
          <a:ext cx="11094415" cy="379476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463040"/>
                <a:gridCol w="9631375"/>
              </a:tblGrid>
              <a:tr h="4572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2200" b="1">
                          <a:solidFill>
                            <a:srgbClr val="F4F2EC"/>
                          </a:solidFill>
                          <a:latin typeface="Arial"/>
                        </a:rPr>
                        <a:t>Phase</a:t>
                      </a:r>
                    </a:p>
                  </a:txBody>
                  <a:tcPr anchor="ctr" marL="109728" marR="109728" marT="54864" marB="54864">
                    <a:lnB w="9525" cap="flat" cmpd="sng" algn="ctr">
                      <a:solidFill>
                        <a:srgbClr val="4B5320"/>
                      </a:solidFill>
                    </a:lnB>
                    <a:lnT w="9525" cap="flat" cmpd="sng" algn="ctr">
                      <a:solidFill>
                        <a:srgbClr val="4B5320"/>
                      </a:solidFill>
                    </a:lnT>
                    <a:lnR w="9525" cap="flat" cmpd="sng" algn="ctr">
                      <a:solidFill>
                        <a:srgbClr val="4B5320"/>
                      </a:solidFill>
                    </a:lnR>
                    <a:lnL w="9525" cap="flat" cmpd="sng" algn="ctr">
                      <a:solidFill>
                        <a:srgbClr val="4B5320"/>
                      </a:solidFill>
                    </a:lnL>
                    <a:solidFill>
                      <a:srgbClr val="4B532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2200" b="1">
                          <a:solidFill>
                            <a:srgbClr val="F4F2EC"/>
                          </a:solidFill>
                          <a:latin typeface="Arial"/>
                        </a:rPr>
                        <a:t>Key Activities</a:t>
                      </a:r>
                    </a:p>
                  </a:txBody>
                  <a:tcPr anchor="ctr" marL="109728" marR="109728" marT="54864" marB="54864">
                    <a:lnB w="9525" cap="flat" cmpd="sng" algn="ctr">
                      <a:solidFill>
                        <a:srgbClr val="4B5320"/>
                      </a:solidFill>
                    </a:lnB>
                    <a:lnT w="9525" cap="flat" cmpd="sng" algn="ctr">
                      <a:solidFill>
                        <a:srgbClr val="4B5320"/>
                      </a:solidFill>
                    </a:lnT>
                    <a:lnR w="9525" cap="flat" cmpd="sng" algn="ctr">
                      <a:solidFill>
                        <a:srgbClr val="4B5320"/>
                      </a:solidFill>
                    </a:lnR>
                    <a:lnL w="9525" cap="flat" cmpd="sng" algn="ctr">
                      <a:solidFill>
                        <a:srgbClr val="4B5320"/>
                      </a:solidFill>
                    </a:lnL>
                    <a:solidFill>
                      <a:srgbClr val="4B5320"/>
                    </a:solidFill>
                  </a:tcPr>
                </a:tc>
              </a:tr>
              <a:tr h="667512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2200" b="1">
                          <a:solidFill>
                            <a:srgbClr val="4B5320"/>
                          </a:solidFill>
                          <a:latin typeface="Arial"/>
                        </a:rPr>
                        <a:t>Prep Stage</a:t>
                      </a:r>
                    </a:p>
                  </a:txBody>
                  <a:tcPr anchor="ctr" marL="109728" marR="109728" marT="54864" marB="54864">
                    <a:lnB w="9525" cap="flat" cmpd="sng" algn="ctr">
                      <a:solidFill>
                        <a:srgbClr val="4B5320"/>
                      </a:solidFill>
                    </a:lnB>
                    <a:lnT w="9525" cap="flat" cmpd="sng" algn="ctr">
                      <a:solidFill>
                        <a:srgbClr val="4B5320"/>
                      </a:solidFill>
                    </a:lnT>
                    <a:lnR w="9525" cap="flat" cmpd="sng" algn="ctr">
                      <a:solidFill>
                        <a:srgbClr val="4B5320"/>
                      </a:solidFill>
                    </a:lnR>
                    <a:lnL w="9525" cap="flat" cmpd="sng" algn="ctr">
                      <a:solidFill>
                        <a:srgbClr val="4B5320"/>
                      </a:solidFill>
                    </a:lnL>
                    <a:solidFill>
                      <a:srgbClr val="F4F2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2000" b="0">
                          <a:solidFill>
                            <a:srgbClr val="1B1F23"/>
                          </a:solidFill>
                          <a:latin typeface="Arial"/>
                        </a:rPr>
                        <a:t>1. Comd Decision Points formulated for each phase.</a:t>
                      </a:r>
                    </a:p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2000" b="0">
                          <a:solidFill>
                            <a:srgbClr val="1B1F23"/>
                          </a:solidFill>
                          <a:latin typeface="Arial"/>
                        </a:rPr>
                        <a:t>2. Bde/Div Res des; decision auth delegated.</a:t>
                      </a:r>
                    </a:p>
                  </a:txBody>
                  <a:tcPr anchor="ctr" marL="109728" marR="109728" marT="54864" marB="54864">
                    <a:lnB w="9525" cap="flat" cmpd="sng" algn="ctr">
                      <a:solidFill>
                        <a:srgbClr val="4B5320"/>
                      </a:solidFill>
                    </a:lnB>
                    <a:lnT w="9525" cap="flat" cmpd="sng" algn="ctr">
                      <a:solidFill>
                        <a:srgbClr val="4B5320"/>
                      </a:solidFill>
                    </a:lnT>
                    <a:lnR w="9525" cap="flat" cmpd="sng" algn="ctr">
                      <a:solidFill>
                        <a:srgbClr val="4B5320"/>
                      </a:solidFill>
                    </a:lnR>
                    <a:lnL w="9525" cap="flat" cmpd="sng" algn="ctr">
                      <a:solidFill>
                        <a:srgbClr val="4B5320"/>
                      </a:solidFill>
                    </a:lnL>
                    <a:solidFill>
                      <a:srgbClr val="F4F2EC"/>
                    </a:solidFill>
                  </a:tcPr>
                </a:tc>
              </a:tr>
              <a:tr h="667512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2200" b="1">
                          <a:solidFill>
                            <a:srgbClr val="4B5320"/>
                          </a:solidFill>
                          <a:latin typeface="Arial"/>
                        </a:rPr>
                        <a:t>PS-1</a:t>
                      </a:r>
                    </a:p>
                  </a:txBody>
                  <a:tcPr anchor="ctr" marL="109728" marR="109728" marT="54864" marB="54864">
                    <a:lnB w="9525" cap="flat" cmpd="sng" algn="ctr">
                      <a:solidFill>
                        <a:srgbClr val="4B5320"/>
                      </a:solidFill>
                    </a:lnB>
                    <a:lnT w="9525" cap="flat" cmpd="sng" algn="ctr">
                      <a:solidFill>
                        <a:srgbClr val="4B5320"/>
                      </a:solidFill>
                    </a:lnT>
                    <a:lnR w="9525" cap="flat" cmpd="sng" algn="ctr">
                      <a:solidFill>
                        <a:srgbClr val="4B5320"/>
                      </a:solidFill>
                    </a:lnR>
                    <a:lnL w="9525" cap="flat" cmpd="sng" algn="ctr">
                      <a:solidFill>
                        <a:srgbClr val="4B5320"/>
                      </a:solidFill>
                    </a:lnL>
                    <a:solidFill>
                      <a:srgbClr val="F4F2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2000" b="0">
                          <a:solidFill>
                            <a:srgbClr val="1B1F23"/>
                          </a:solidFill>
                          <a:latin typeface="Arial"/>
                        </a:rPr>
                        <a:t>1. Bde decision on emp of Bde Res (15 BIR) at KAMALASAGAR.</a:t>
                      </a:r>
                    </a:p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2000" b="0">
                          <a:solidFill>
                            <a:srgbClr val="1B1F23"/>
                          </a:solidFill>
                          <a:latin typeface="Arial"/>
                        </a:rPr>
                        <a:t>2. Div HQ realloc arty resource bet bdes.</a:t>
                      </a:r>
                    </a:p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2000" b="0">
                          <a:solidFill>
                            <a:srgbClr val="1B1F23"/>
                          </a:solidFill>
                          <a:latin typeface="Arial"/>
                        </a:rPr>
                        <a:t>3. Div HQ review of inter-bde boundary.</a:t>
                      </a:r>
                    </a:p>
                  </a:txBody>
                  <a:tcPr anchor="ctr" marL="109728" marR="109728" marT="54864" marB="54864">
                    <a:lnB w="9525" cap="flat" cmpd="sng" algn="ctr">
                      <a:solidFill>
                        <a:srgbClr val="4B5320"/>
                      </a:solidFill>
                    </a:lnB>
                    <a:lnT w="9525" cap="flat" cmpd="sng" algn="ctr">
                      <a:solidFill>
                        <a:srgbClr val="4B5320"/>
                      </a:solidFill>
                    </a:lnT>
                    <a:lnR w="9525" cap="flat" cmpd="sng" algn="ctr">
                      <a:solidFill>
                        <a:srgbClr val="4B5320"/>
                      </a:solidFill>
                    </a:lnR>
                    <a:lnL w="9525" cap="flat" cmpd="sng" algn="ctr">
                      <a:solidFill>
                        <a:srgbClr val="4B5320"/>
                      </a:solidFill>
                    </a:lnL>
                    <a:solidFill>
                      <a:srgbClr val="F4F2EC"/>
                    </a:solidFill>
                  </a:tcPr>
                </a:tc>
              </a:tr>
              <a:tr h="667512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2200" b="1">
                          <a:solidFill>
                            <a:srgbClr val="4B5320"/>
                          </a:solidFill>
                          <a:latin typeface="Arial"/>
                        </a:rPr>
                        <a:t>PS-2</a:t>
                      </a:r>
                    </a:p>
                  </a:txBody>
                  <a:tcPr anchor="ctr" marL="109728" marR="109728" marT="54864" marB="54864">
                    <a:lnB w="9525" cap="flat" cmpd="sng" algn="ctr">
                      <a:solidFill>
                        <a:srgbClr val="4B5320"/>
                      </a:solidFill>
                    </a:lnB>
                    <a:lnT w="9525" cap="flat" cmpd="sng" algn="ctr">
                      <a:solidFill>
                        <a:srgbClr val="4B5320"/>
                      </a:solidFill>
                    </a:lnT>
                    <a:lnR w="9525" cap="flat" cmpd="sng" algn="ctr">
                      <a:solidFill>
                        <a:srgbClr val="4B5320"/>
                      </a:solidFill>
                    </a:lnR>
                    <a:lnL w="9525" cap="flat" cmpd="sng" algn="ctr">
                      <a:solidFill>
                        <a:srgbClr val="4B5320"/>
                      </a:solidFill>
                    </a:lnL>
                    <a:solidFill>
                      <a:srgbClr val="F4F2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2000" b="0">
                          <a:solidFill>
                            <a:srgbClr val="1B1F23"/>
                          </a:solidFill>
                          <a:latin typeface="Arial"/>
                        </a:rPr>
                        <a:t>1. Bde decision on stalled adv/emp of Bde Res.</a:t>
                      </a:r>
                    </a:p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2000" b="0">
                          <a:solidFill>
                            <a:srgbClr val="1B1F23"/>
                          </a:solidFill>
                          <a:latin typeface="Arial"/>
                        </a:rPr>
                        <a:t>2. Div HQ realloc engr resource (North).</a:t>
                      </a:r>
                    </a:p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2000" b="0">
                          <a:solidFill>
                            <a:srgbClr val="1B1F23"/>
                          </a:solidFill>
                          <a:latin typeface="Arial"/>
                        </a:rPr>
                        <a:t>3. Div HQ decision on emp of Div arty resource (South).</a:t>
                      </a:r>
                    </a:p>
                  </a:txBody>
                  <a:tcPr anchor="ctr" marL="109728" marR="109728" marT="54864" marB="54864">
                    <a:lnB w="9525" cap="flat" cmpd="sng" algn="ctr">
                      <a:solidFill>
                        <a:srgbClr val="4B5320"/>
                      </a:solidFill>
                    </a:lnB>
                    <a:lnT w="9525" cap="flat" cmpd="sng" algn="ctr">
                      <a:solidFill>
                        <a:srgbClr val="4B5320"/>
                      </a:solidFill>
                    </a:lnT>
                    <a:lnR w="9525" cap="flat" cmpd="sng" algn="ctr">
                      <a:solidFill>
                        <a:srgbClr val="4B5320"/>
                      </a:solidFill>
                    </a:lnR>
                    <a:lnL w="9525" cap="flat" cmpd="sng" algn="ctr">
                      <a:solidFill>
                        <a:srgbClr val="4B5320"/>
                      </a:solidFill>
                    </a:lnL>
                    <a:solidFill>
                      <a:srgbClr val="F4F2EC"/>
                    </a:solidFill>
                  </a:tcPr>
                </a:tc>
              </a:tr>
              <a:tr h="667512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2200" b="1">
                          <a:solidFill>
                            <a:srgbClr val="4B5320"/>
                          </a:solidFill>
                          <a:latin typeface="Arial"/>
                        </a:rPr>
                        <a:t>PS-3</a:t>
                      </a:r>
                    </a:p>
                  </a:txBody>
                  <a:tcPr anchor="ctr" marL="109728" marR="109728" marT="54864" marB="54864">
                    <a:lnB w="9525" cap="flat" cmpd="sng" algn="ctr">
                      <a:solidFill>
                        <a:srgbClr val="4B5320"/>
                      </a:solidFill>
                    </a:lnB>
                    <a:lnT w="9525" cap="flat" cmpd="sng" algn="ctr">
                      <a:solidFill>
                        <a:srgbClr val="4B5320"/>
                      </a:solidFill>
                    </a:lnT>
                    <a:lnR w="9525" cap="flat" cmpd="sng" algn="ctr">
                      <a:solidFill>
                        <a:srgbClr val="4B5320"/>
                      </a:solidFill>
                    </a:lnR>
                    <a:lnL w="9525" cap="flat" cmpd="sng" algn="ctr">
                      <a:solidFill>
                        <a:srgbClr val="4B5320"/>
                      </a:solidFill>
                    </a:lnL>
                    <a:solidFill>
                      <a:srgbClr val="F4F2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2000" b="0">
                          <a:solidFill>
                            <a:srgbClr val="1B1F23"/>
                          </a:solidFill>
                          <a:latin typeface="Arial"/>
                        </a:rPr>
                        <a:t>1. Bde decision under en quick attk (Bn C Pen pressured).</a:t>
                      </a:r>
                    </a:p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2000" b="0">
                          <a:solidFill>
                            <a:srgbClr val="1B1F23"/>
                          </a:solidFill>
                          <a:latin typeface="Arial"/>
                        </a:rPr>
                        <a:t>2. Div HQ realloc Div arty resource.</a:t>
                      </a:r>
                    </a:p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2000" b="0">
                          <a:solidFill>
                            <a:srgbClr val="1B1F23"/>
                          </a:solidFill>
                          <a:latin typeface="Arial"/>
                        </a:rPr>
                        <a:t>3. Div HQ review Div Res status for cross-reinforcement.</a:t>
                      </a:r>
                    </a:p>
                  </a:txBody>
                  <a:tcPr anchor="ctr" marL="109728" marR="109728" marT="54864" marB="54864">
                    <a:lnB w="9525" cap="flat" cmpd="sng" algn="ctr">
                      <a:solidFill>
                        <a:srgbClr val="4B5320"/>
                      </a:solidFill>
                    </a:lnB>
                    <a:lnT w="9525" cap="flat" cmpd="sng" algn="ctr">
                      <a:solidFill>
                        <a:srgbClr val="4B5320"/>
                      </a:solidFill>
                    </a:lnT>
                    <a:lnR w="9525" cap="flat" cmpd="sng" algn="ctr">
                      <a:solidFill>
                        <a:srgbClr val="4B5320"/>
                      </a:solidFill>
                    </a:lnR>
                    <a:lnL w="9525" cap="flat" cmpd="sng" algn="ctr">
                      <a:solidFill>
                        <a:srgbClr val="4B5320"/>
                      </a:solidFill>
                    </a:lnL>
                    <a:solidFill>
                      <a:srgbClr val="F4F2EC"/>
                    </a:solidFill>
                  </a:tcPr>
                </a:tc>
              </a:tr>
              <a:tr h="667512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2200" b="1">
                          <a:solidFill>
                            <a:srgbClr val="4B5320"/>
                          </a:solidFill>
                          <a:latin typeface="Arial"/>
                        </a:rPr>
                        <a:t>PS-4</a:t>
                      </a:r>
                    </a:p>
                  </a:txBody>
                  <a:tcPr anchor="ctr" marL="109728" marR="109728" marT="54864" marB="54864">
                    <a:lnB w="9525" cap="flat" cmpd="sng" algn="ctr">
                      <a:solidFill>
                        <a:srgbClr val="4B5320"/>
                      </a:solidFill>
                    </a:lnB>
                    <a:lnT w="9525" cap="flat" cmpd="sng" algn="ctr">
                      <a:solidFill>
                        <a:srgbClr val="4B5320"/>
                      </a:solidFill>
                    </a:lnT>
                    <a:lnR w="9525" cap="flat" cmpd="sng" algn="ctr">
                      <a:solidFill>
                        <a:srgbClr val="4B5320"/>
                      </a:solidFill>
                    </a:lnR>
                    <a:lnL w="9525" cap="flat" cmpd="sng" algn="ctr">
                      <a:solidFill>
                        <a:srgbClr val="4B5320"/>
                      </a:solidFill>
                    </a:lnL>
                    <a:solidFill>
                      <a:srgbClr val="F4F2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2000" b="0">
                          <a:solidFill>
                            <a:srgbClr val="1B1F23"/>
                          </a:solidFill>
                          <a:latin typeface="Arial"/>
                        </a:rPr>
                        <a:t>1. Bde decision on emp of Bde Res (15 BIR).</a:t>
                      </a:r>
                    </a:p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2000" b="0">
                          <a:solidFill>
                            <a:srgbClr val="1B1F23"/>
                          </a:solidFill>
                          <a:latin typeface="Arial"/>
                        </a:rPr>
                        <a:t>2. Div HQ climax decision: emp Div Res or wdr.</a:t>
                      </a:r>
                    </a:p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2000" b="0">
                          <a:solidFill>
                            <a:srgbClr val="1B1F23"/>
                          </a:solidFill>
                          <a:latin typeface="Arial"/>
                        </a:rPr>
                        <a:t>3. Formal dir issued within doctrinal time frame.</a:t>
                      </a:r>
                    </a:p>
                  </a:txBody>
                  <a:tcPr anchor="ctr" marL="109728" marR="109728" marT="54864" marB="54864">
                    <a:lnB w="9525" cap="flat" cmpd="sng" algn="ctr">
                      <a:solidFill>
                        <a:srgbClr val="4B5320"/>
                      </a:solidFill>
                    </a:lnB>
                    <a:lnT w="9525" cap="flat" cmpd="sng" algn="ctr">
                      <a:solidFill>
                        <a:srgbClr val="4B5320"/>
                      </a:solidFill>
                    </a:lnT>
                    <a:lnR w="9525" cap="flat" cmpd="sng" algn="ctr">
                      <a:solidFill>
                        <a:srgbClr val="4B5320"/>
                      </a:solidFill>
                    </a:lnR>
                    <a:lnL w="9525" cap="flat" cmpd="sng" algn="ctr">
                      <a:solidFill>
                        <a:srgbClr val="4B5320"/>
                      </a:solidFill>
                    </a:lnL>
                    <a:solidFill>
                      <a:srgbClr val="F4F2EC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48640" y="6080760"/>
            <a:ext cx="1109441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 i="1">
                <a:solidFill>
                  <a:srgbClr val="B08D57"/>
                </a:solidFill>
                <a:latin typeface="Arial"/>
              </a:rPr>
              <a:t>Source: EX DURJOY GHATI Obj-Lessons Matrix, 33 Inf Div.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814255" y="6473952"/>
            <a:ext cx="182880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A79EAB84-5DF8-438C-A72F-1EBC91011EA1}" type="slidenum">
              <a:rPr lang="en-US" sz="1600" b="1">
                <a:solidFill>
                  <a:srgbClr val="B08D57"/>
                </a:solidFill>
                <a:latin typeface="Arial"/>
              </a:rPr>
              <a:t>1</a:t>
            </a:fld>
            <a:r>
              <a:rPr sz="1600" b="1">
                <a:solidFill>
                  <a:srgbClr val="B08D57"/>
                </a:solidFill>
                <a:latin typeface="Arial"/>
              </a:rPr>
              <a:t> /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 spc="60">
                <a:solidFill>
                  <a:srgbClr val="B08D57"/>
                </a:solidFill>
                <a:latin typeface="Arial"/>
              </a:rPr>
              <a:t>33 INF DIV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28255" y="137160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 i="0" spc="40">
                <a:solidFill>
                  <a:srgbClr val="B08D57"/>
                </a:solidFill>
                <a:latin typeface="Arial"/>
              </a:rPr>
              <a:t>EX DURJOY GHATI (CAX)-19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 i="1">
                <a:solidFill>
                  <a:srgbClr val="B08D57"/>
                </a:solidFill>
                <a:latin typeface="Arial"/>
              </a:rPr>
              <a:t>OFFICIAL / FOR BRIEFING USE ONLY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02920"/>
            <a:ext cx="1109441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 spc="150">
                <a:solidFill>
                  <a:srgbClr val="1B1F23"/>
                </a:solidFill>
                <a:latin typeface="Arial"/>
              </a:rPr>
              <a:t>LESSON 3 — SOUND LOGISTICS PLAN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48640" y="1298448"/>
            <a:ext cx="11094415" cy="0"/>
          </a:xfrm>
          <a:prstGeom prst="line">
            <a:avLst/>
          </a:prstGeom>
          <a:ln w="19050">
            <a:solidFill>
              <a:srgbClr val="B08D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48640" y="1481328"/>
            <a:ext cx="1109441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4B5320"/>
                </a:solidFill>
                <a:latin typeface="Arial"/>
              </a:rPr>
              <a:t>Attainment Process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48640" y="1965960"/>
          <a:ext cx="11094415" cy="379476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463040"/>
                <a:gridCol w="9631375"/>
              </a:tblGrid>
              <a:tr h="4572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2200" b="1">
                          <a:solidFill>
                            <a:srgbClr val="F4F2EC"/>
                          </a:solidFill>
                          <a:latin typeface="Arial"/>
                        </a:rPr>
                        <a:t>Phase</a:t>
                      </a:r>
                    </a:p>
                  </a:txBody>
                  <a:tcPr anchor="ctr" marL="109728" marR="109728" marT="54864" marB="54864">
                    <a:lnB w="9525" cap="flat" cmpd="sng" algn="ctr">
                      <a:solidFill>
                        <a:srgbClr val="4B5320"/>
                      </a:solidFill>
                    </a:lnB>
                    <a:lnT w="9525" cap="flat" cmpd="sng" algn="ctr">
                      <a:solidFill>
                        <a:srgbClr val="4B5320"/>
                      </a:solidFill>
                    </a:lnT>
                    <a:lnR w="9525" cap="flat" cmpd="sng" algn="ctr">
                      <a:solidFill>
                        <a:srgbClr val="4B5320"/>
                      </a:solidFill>
                    </a:lnR>
                    <a:lnL w="9525" cap="flat" cmpd="sng" algn="ctr">
                      <a:solidFill>
                        <a:srgbClr val="4B5320"/>
                      </a:solidFill>
                    </a:lnL>
                    <a:solidFill>
                      <a:srgbClr val="4B532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2200" b="1">
                          <a:solidFill>
                            <a:srgbClr val="F4F2EC"/>
                          </a:solidFill>
                          <a:latin typeface="Arial"/>
                        </a:rPr>
                        <a:t>Key Activities</a:t>
                      </a:r>
                    </a:p>
                  </a:txBody>
                  <a:tcPr anchor="ctr" marL="109728" marR="109728" marT="54864" marB="54864">
                    <a:lnB w="9525" cap="flat" cmpd="sng" algn="ctr">
                      <a:solidFill>
                        <a:srgbClr val="4B5320"/>
                      </a:solidFill>
                    </a:lnB>
                    <a:lnT w="9525" cap="flat" cmpd="sng" algn="ctr">
                      <a:solidFill>
                        <a:srgbClr val="4B5320"/>
                      </a:solidFill>
                    </a:lnT>
                    <a:lnR w="9525" cap="flat" cmpd="sng" algn="ctr">
                      <a:solidFill>
                        <a:srgbClr val="4B5320"/>
                      </a:solidFill>
                    </a:lnR>
                    <a:lnL w="9525" cap="flat" cmpd="sng" algn="ctr">
                      <a:solidFill>
                        <a:srgbClr val="4B5320"/>
                      </a:solidFill>
                    </a:lnL>
                    <a:solidFill>
                      <a:srgbClr val="4B5320"/>
                    </a:solidFill>
                  </a:tcPr>
                </a:tc>
              </a:tr>
              <a:tr h="667512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2200" b="1">
                          <a:solidFill>
                            <a:srgbClr val="4B5320"/>
                          </a:solidFill>
                          <a:latin typeface="Arial"/>
                        </a:rPr>
                        <a:t>Prep Stage</a:t>
                      </a:r>
                    </a:p>
                  </a:txBody>
                  <a:tcPr anchor="ctr" marL="109728" marR="109728" marT="54864" marB="54864">
                    <a:lnB w="9525" cap="flat" cmpd="sng" algn="ctr">
                      <a:solidFill>
                        <a:srgbClr val="4B5320"/>
                      </a:solidFill>
                    </a:lnB>
                    <a:lnT w="9525" cap="flat" cmpd="sng" algn="ctr">
                      <a:solidFill>
                        <a:srgbClr val="4B5320"/>
                      </a:solidFill>
                    </a:lnT>
                    <a:lnR w="9525" cap="flat" cmpd="sng" algn="ctr">
                      <a:solidFill>
                        <a:srgbClr val="4B5320"/>
                      </a:solidFill>
                    </a:lnR>
                    <a:lnL w="9525" cap="flat" cmpd="sng" algn="ctr">
                      <a:solidFill>
                        <a:srgbClr val="4B5320"/>
                      </a:solidFill>
                    </a:lnL>
                    <a:solidFill>
                      <a:srgbClr val="F4F2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2000" b="0">
                          <a:solidFill>
                            <a:srgbClr val="1B1F23"/>
                          </a:solidFill>
                          <a:latin typeface="Arial"/>
                        </a:rPr>
                        <a:t>1. AdminO/Concept of Sp prepared.</a:t>
                      </a:r>
                    </a:p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2000" b="0">
                          <a:solidFill>
                            <a:srgbClr val="1B1F23"/>
                          </a:solidFill>
                          <a:latin typeface="Arial"/>
                        </a:rPr>
                        <a:t>2. DAA/BAA sel; G-est/ammo alloc iaw AHQ MO Dte.</a:t>
                      </a:r>
                    </a:p>
                  </a:txBody>
                  <a:tcPr anchor="ctr" marL="109728" marR="109728" marT="54864" marB="54864">
                    <a:lnB w="9525" cap="flat" cmpd="sng" algn="ctr">
                      <a:solidFill>
                        <a:srgbClr val="4B5320"/>
                      </a:solidFill>
                    </a:lnB>
                    <a:lnT w="9525" cap="flat" cmpd="sng" algn="ctr">
                      <a:solidFill>
                        <a:srgbClr val="4B5320"/>
                      </a:solidFill>
                    </a:lnT>
                    <a:lnR w="9525" cap="flat" cmpd="sng" algn="ctr">
                      <a:solidFill>
                        <a:srgbClr val="4B5320"/>
                      </a:solidFill>
                    </a:lnR>
                    <a:lnL w="9525" cap="flat" cmpd="sng" algn="ctr">
                      <a:solidFill>
                        <a:srgbClr val="4B5320"/>
                      </a:solidFill>
                    </a:lnL>
                    <a:solidFill>
                      <a:srgbClr val="F4F2EC"/>
                    </a:solidFill>
                  </a:tcPr>
                </a:tc>
              </a:tr>
              <a:tr h="667512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2200" b="1">
                          <a:solidFill>
                            <a:srgbClr val="4B5320"/>
                          </a:solidFill>
                          <a:latin typeface="Arial"/>
                        </a:rPr>
                        <a:t>PS-1</a:t>
                      </a:r>
                    </a:p>
                  </a:txBody>
                  <a:tcPr anchor="ctr" marL="109728" marR="109728" marT="54864" marB="54864">
                    <a:lnB w="9525" cap="flat" cmpd="sng" algn="ctr">
                      <a:solidFill>
                        <a:srgbClr val="4B5320"/>
                      </a:solidFill>
                    </a:lnB>
                    <a:lnT w="9525" cap="flat" cmpd="sng" algn="ctr">
                      <a:solidFill>
                        <a:srgbClr val="4B5320"/>
                      </a:solidFill>
                    </a:lnT>
                    <a:lnR w="9525" cap="flat" cmpd="sng" algn="ctr">
                      <a:solidFill>
                        <a:srgbClr val="4B5320"/>
                      </a:solidFill>
                    </a:lnR>
                    <a:lnL w="9525" cap="flat" cmpd="sng" algn="ctr">
                      <a:solidFill>
                        <a:srgbClr val="4B5320"/>
                      </a:solidFill>
                    </a:lnL>
                    <a:solidFill>
                      <a:srgbClr val="F4F2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2000" b="0">
                          <a:solidFill>
                            <a:srgbClr val="1B1F23"/>
                          </a:solidFill>
                          <a:latin typeface="Arial"/>
                        </a:rPr>
                        <a:t>1. Ammo consumption vs G-est dmd (North).</a:t>
                      </a:r>
                    </a:p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2000" b="0">
                          <a:solidFill>
                            <a:srgbClr val="1B1F23"/>
                          </a:solidFill>
                          <a:latin typeface="Arial"/>
                        </a:rPr>
                        <a:t>2. CASEVAC and replen for arty/mor cas (both sectors).</a:t>
                      </a:r>
                    </a:p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2000" b="0">
                          <a:solidFill>
                            <a:srgbClr val="1B1F23"/>
                          </a:solidFill>
                          <a:latin typeface="Arial"/>
                        </a:rPr>
                        <a:t>3. MSR CUMILLA-CHAUDDOGRAM interdiction and contg.</a:t>
                      </a:r>
                    </a:p>
                  </a:txBody>
                  <a:tcPr anchor="ctr" marL="109728" marR="109728" marT="54864" marB="54864">
                    <a:lnB w="9525" cap="flat" cmpd="sng" algn="ctr">
                      <a:solidFill>
                        <a:srgbClr val="4B5320"/>
                      </a:solidFill>
                    </a:lnB>
                    <a:lnT w="9525" cap="flat" cmpd="sng" algn="ctr">
                      <a:solidFill>
                        <a:srgbClr val="4B5320"/>
                      </a:solidFill>
                    </a:lnT>
                    <a:lnR w="9525" cap="flat" cmpd="sng" algn="ctr">
                      <a:solidFill>
                        <a:srgbClr val="4B5320"/>
                      </a:solidFill>
                    </a:lnR>
                    <a:lnL w="9525" cap="flat" cmpd="sng" algn="ctr">
                      <a:solidFill>
                        <a:srgbClr val="4B5320"/>
                      </a:solidFill>
                    </a:lnL>
                    <a:solidFill>
                      <a:srgbClr val="F4F2EC"/>
                    </a:solidFill>
                  </a:tcPr>
                </a:tc>
              </a:tr>
              <a:tr h="667512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2200" b="1">
                          <a:solidFill>
                            <a:srgbClr val="4B5320"/>
                          </a:solidFill>
                          <a:latin typeface="Arial"/>
                        </a:rPr>
                        <a:t>PS-2</a:t>
                      </a:r>
                    </a:p>
                  </a:txBody>
                  <a:tcPr anchor="ctr" marL="109728" marR="109728" marT="54864" marB="54864">
                    <a:lnB w="9525" cap="flat" cmpd="sng" algn="ctr">
                      <a:solidFill>
                        <a:srgbClr val="4B5320"/>
                      </a:solidFill>
                    </a:lnB>
                    <a:lnT w="9525" cap="flat" cmpd="sng" algn="ctr">
                      <a:solidFill>
                        <a:srgbClr val="4B5320"/>
                      </a:solidFill>
                    </a:lnT>
                    <a:lnR w="9525" cap="flat" cmpd="sng" algn="ctr">
                      <a:solidFill>
                        <a:srgbClr val="4B5320"/>
                      </a:solidFill>
                    </a:lnR>
                    <a:lnL w="9525" cap="flat" cmpd="sng" algn="ctr">
                      <a:solidFill>
                        <a:srgbClr val="4B5320"/>
                      </a:solidFill>
                    </a:lnL>
                    <a:solidFill>
                      <a:srgbClr val="F4F2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2000" b="0">
                          <a:solidFill>
                            <a:srgbClr val="1B1F23"/>
                          </a:solidFill>
                          <a:latin typeface="Arial"/>
                        </a:rPr>
                        <a:t>1. DAA displaces fwd to sustain the adv.</a:t>
                      </a:r>
                    </a:p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2000" b="0">
                          <a:solidFill>
                            <a:srgbClr val="1B1F23"/>
                          </a:solidFill>
                          <a:latin typeface="Arial"/>
                        </a:rPr>
                        <a:t>2. Ammo/fuel consumption vs G-est.</a:t>
                      </a:r>
                    </a:p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2000" b="0">
                          <a:solidFill>
                            <a:srgbClr val="1B1F23"/>
                          </a:solidFill>
                          <a:latin typeface="Arial"/>
                        </a:rPr>
                        <a:t>3. Ammo carr lost to en air act.</a:t>
                      </a:r>
                    </a:p>
                  </a:txBody>
                  <a:tcPr anchor="ctr" marL="109728" marR="109728" marT="54864" marB="54864">
                    <a:lnB w="9525" cap="flat" cmpd="sng" algn="ctr">
                      <a:solidFill>
                        <a:srgbClr val="4B5320"/>
                      </a:solidFill>
                    </a:lnB>
                    <a:lnT w="9525" cap="flat" cmpd="sng" algn="ctr">
                      <a:solidFill>
                        <a:srgbClr val="4B5320"/>
                      </a:solidFill>
                    </a:lnT>
                    <a:lnR w="9525" cap="flat" cmpd="sng" algn="ctr">
                      <a:solidFill>
                        <a:srgbClr val="4B5320"/>
                      </a:solidFill>
                    </a:lnR>
                    <a:lnL w="9525" cap="flat" cmpd="sng" algn="ctr">
                      <a:solidFill>
                        <a:srgbClr val="4B5320"/>
                      </a:solidFill>
                    </a:lnL>
                    <a:solidFill>
                      <a:srgbClr val="F4F2EC"/>
                    </a:solidFill>
                  </a:tcPr>
                </a:tc>
              </a:tr>
              <a:tr h="667512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2200" b="1">
                          <a:solidFill>
                            <a:srgbClr val="4B5320"/>
                          </a:solidFill>
                          <a:latin typeface="Arial"/>
                        </a:rPr>
                        <a:t>PS-3</a:t>
                      </a:r>
                    </a:p>
                  </a:txBody>
                  <a:tcPr anchor="ctr" marL="109728" marR="109728" marT="54864" marB="54864">
                    <a:lnB w="9525" cap="flat" cmpd="sng" algn="ctr">
                      <a:solidFill>
                        <a:srgbClr val="4B5320"/>
                      </a:solidFill>
                    </a:lnB>
                    <a:lnT w="9525" cap="flat" cmpd="sng" algn="ctr">
                      <a:solidFill>
                        <a:srgbClr val="4B5320"/>
                      </a:solidFill>
                    </a:lnT>
                    <a:lnR w="9525" cap="flat" cmpd="sng" algn="ctr">
                      <a:solidFill>
                        <a:srgbClr val="4B5320"/>
                      </a:solidFill>
                    </a:lnR>
                    <a:lnL w="9525" cap="flat" cmpd="sng" algn="ctr">
                      <a:solidFill>
                        <a:srgbClr val="4B5320"/>
                      </a:solidFill>
                    </a:lnL>
                    <a:solidFill>
                      <a:srgbClr val="F4F2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2000" b="0">
                          <a:solidFill>
                            <a:srgbClr val="1B1F23"/>
                          </a:solidFill>
                          <a:latin typeface="Arial"/>
                        </a:rPr>
                        <a:t>1. Med evac chain capacity assessed vs Div med resource dmd.</a:t>
                      </a:r>
                    </a:p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2000" b="0">
                          <a:solidFill>
                            <a:srgbClr val="1B1F23"/>
                          </a:solidFill>
                          <a:latin typeface="Arial"/>
                        </a:rPr>
                        <a:t>2. Ammo expenditure reaches critical state (South).</a:t>
                      </a:r>
                    </a:p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2000" b="0">
                          <a:solidFill>
                            <a:srgbClr val="1B1F23"/>
                          </a:solidFill>
                          <a:latin typeface="Arial"/>
                        </a:rPr>
                        <a:t>3. CASEVAC chain saturation (South).</a:t>
                      </a:r>
                    </a:p>
                  </a:txBody>
                  <a:tcPr anchor="ctr" marL="109728" marR="109728" marT="54864" marB="54864">
                    <a:lnB w="9525" cap="flat" cmpd="sng" algn="ctr">
                      <a:solidFill>
                        <a:srgbClr val="4B5320"/>
                      </a:solidFill>
                    </a:lnB>
                    <a:lnT w="9525" cap="flat" cmpd="sng" algn="ctr">
                      <a:solidFill>
                        <a:srgbClr val="4B5320"/>
                      </a:solidFill>
                    </a:lnT>
                    <a:lnR w="9525" cap="flat" cmpd="sng" algn="ctr">
                      <a:solidFill>
                        <a:srgbClr val="4B5320"/>
                      </a:solidFill>
                    </a:lnR>
                    <a:lnL w="9525" cap="flat" cmpd="sng" algn="ctr">
                      <a:solidFill>
                        <a:srgbClr val="4B5320"/>
                      </a:solidFill>
                    </a:lnL>
                    <a:solidFill>
                      <a:srgbClr val="F4F2EC"/>
                    </a:solidFill>
                  </a:tcPr>
                </a:tc>
              </a:tr>
              <a:tr h="667512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2200" b="1">
                          <a:solidFill>
                            <a:srgbClr val="4B5320"/>
                          </a:solidFill>
                          <a:latin typeface="Arial"/>
                        </a:rPr>
                        <a:t>PS-4</a:t>
                      </a:r>
                    </a:p>
                  </a:txBody>
                  <a:tcPr anchor="ctr" marL="109728" marR="109728" marT="54864" marB="54864">
                    <a:lnB w="9525" cap="flat" cmpd="sng" algn="ctr">
                      <a:solidFill>
                        <a:srgbClr val="4B5320"/>
                      </a:solidFill>
                    </a:lnB>
                    <a:lnT w="9525" cap="flat" cmpd="sng" algn="ctr">
                      <a:solidFill>
                        <a:srgbClr val="4B5320"/>
                      </a:solidFill>
                    </a:lnT>
                    <a:lnR w="9525" cap="flat" cmpd="sng" algn="ctr">
                      <a:solidFill>
                        <a:srgbClr val="4B5320"/>
                      </a:solidFill>
                    </a:lnR>
                    <a:lnL w="9525" cap="flat" cmpd="sng" algn="ctr">
                      <a:solidFill>
                        <a:srgbClr val="4B5320"/>
                      </a:solidFill>
                    </a:lnL>
                    <a:solidFill>
                      <a:srgbClr val="F4F2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2000" b="0">
                          <a:solidFill>
                            <a:srgbClr val="1B1F23"/>
                          </a:solidFill>
                          <a:latin typeface="Arial"/>
                        </a:rPr>
                        <a:t>1. DAA/BAA displacement and med evac capacity assessed.</a:t>
                      </a:r>
                    </a:p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2000" b="0">
                          <a:solidFill>
                            <a:srgbClr val="1B1F23"/>
                          </a:solidFill>
                          <a:latin typeface="Arial"/>
                        </a:rPr>
                        <a:t>2. MSR cut disrupts CASEVAC/replen.</a:t>
                      </a:r>
                    </a:p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2000" b="0">
                          <a:solidFill>
                            <a:srgbClr val="1B1F23"/>
                          </a:solidFill>
                          <a:latin typeface="Arial"/>
                        </a:rPr>
                        <a:t>3. Critical ammo/med state drives terminal decision.</a:t>
                      </a:r>
                    </a:p>
                  </a:txBody>
                  <a:tcPr anchor="ctr" marL="109728" marR="109728" marT="54864" marB="54864">
                    <a:lnB w="9525" cap="flat" cmpd="sng" algn="ctr">
                      <a:solidFill>
                        <a:srgbClr val="4B5320"/>
                      </a:solidFill>
                    </a:lnB>
                    <a:lnT w="9525" cap="flat" cmpd="sng" algn="ctr">
                      <a:solidFill>
                        <a:srgbClr val="4B5320"/>
                      </a:solidFill>
                    </a:lnT>
                    <a:lnR w="9525" cap="flat" cmpd="sng" algn="ctr">
                      <a:solidFill>
                        <a:srgbClr val="4B5320"/>
                      </a:solidFill>
                    </a:lnR>
                    <a:lnL w="9525" cap="flat" cmpd="sng" algn="ctr">
                      <a:solidFill>
                        <a:srgbClr val="4B5320"/>
                      </a:solidFill>
                    </a:lnL>
                    <a:solidFill>
                      <a:srgbClr val="F4F2EC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48640" y="6080760"/>
            <a:ext cx="1109441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 i="1">
                <a:solidFill>
                  <a:srgbClr val="B08D57"/>
                </a:solidFill>
                <a:latin typeface="Arial"/>
              </a:rPr>
              <a:t>Source: EX DURJOY GHATI Obj-Lessons Matrix, 33 Inf Div.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814255" y="6473952"/>
            <a:ext cx="182880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779282AE-1F2D-41F8-BE3D-FA28072F8B4D}" type="slidenum">
              <a:rPr lang="en-US" sz="1600" b="1">
                <a:solidFill>
                  <a:srgbClr val="B08D57"/>
                </a:solidFill>
                <a:latin typeface="Arial"/>
              </a:rPr>
              <a:t>1</a:t>
            </a:fld>
            <a:r>
              <a:rPr sz="1600" b="1">
                <a:solidFill>
                  <a:srgbClr val="B08D57"/>
                </a:solidFill>
                <a:latin typeface="Arial"/>
              </a:rPr>
              <a:t> /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 spc="60">
                <a:solidFill>
                  <a:srgbClr val="B08D57"/>
                </a:solidFill>
                <a:latin typeface="Arial"/>
              </a:rPr>
              <a:t>33 INF DIV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28255" y="137160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 i="0" spc="40">
                <a:solidFill>
                  <a:srgbClr val="B08D57"/>
                </a:solidFill>
                <a:latin typeface="Arial"/>
              </a:rPr>
              <a:t>EX DURJOY GHATI (CAX)-19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 i="1">
                <a:solidFill>
                  <a:srgbClr val="B08D57"/>
                </a:solidFill>
                <a:latin typeface="Arial"/>
              </a:rPr>
              <a:t>OFFICIAL / FOR BRIEFING USE ONLY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02920"/>
            <a:ext cx="1109441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 spc="150">
                <a:solidFill>
                  <a:srgbClr val="1B1F23"/>
                </a:solidFill>
                <a:latin typeface="Arial"/>
              </a:rPr>
              <a:t>LESSON 4 — EMPLOYMENT OF UWF / VOLUNTEER FORCES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48640" y="1298448"/>
            <a:ext cx="11094415" cy="0"/>
          </a:xfrm>
          <a:prstGeom prst="line">
            <a:avLst/>
          </a:prstGeom>
          <a:ln w="19050">
            <a:solidFill>
              <a:srgbClr val="B08D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48640" y="1481328"/>
            <a:ext cx="1109441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4B5320"/>
                </a:solidFill>
                <a:latin typeface="Arial"/>
              </a:rPr>
              <a:t>Attainment Process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48640" y="1965960"/>
          <a:ext cx="11094415" cy="379476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463040"/>
                <a:gridCol w="9631375"/>
              </a:tblGrid>
              <a:tr h="4572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2200" b="1">
                          <a:solidFill>
                            <a:srgbClr val="F4F2EC"/>
                          </a:solidFill>
                          <a:latin typeface="Arial"/>
                        </a:rPr>
                        <a:t>Phase</a:t>
                      </a:r>
                    </a:p>
                  </a:txBody>
                  <a:tcPr anchor="ctr" marL="109728" marR="109728" marT="54864" marB="54864">
                    <a:lnB w="9525" cap="flat" cmpd="sng" algn="ctr">
                      <a:solidFill>
                        <a:srgbClr val="4B5320"/>
                      </a:solidFill>
                    </a:lnB>
                    <a:lnT w="9525" cap="flat" cmpd="sng" algn="ctr">
                      <a:solidFill>
                        <a:srgbClr val="4B5320"/>
                      </a:solidFill>
                    </a:lnT>
                    <a:lnR w="9525" cap="flat" cmpd="sng" algn="ctr">
                      <a:solidFill>
                        <a:srgbClr val="4B5320"/>
                      </a:solidFill>
                    </a:lnR>
                    <a:lnL w="9525" cap="flat" cmpd="sng" algn="ctr">
                      <a:solidFill>
                        <a:srgbClr val="4B5320"/>
                      </a:solidFill>
                    </a:lnL>
                    <a:solidFill>
                      <a:srgbClr val="4B532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2200" b="1">
                          <a:solidFill>
                            <a:srgbClr val="F4F2EC"/>
                          </a:solidFill>
                          <a:latin typeface="Arial"/>
                        </a:rPr>
                        <a:t>Key Activities</a:t>
                      </a:r>
                    </a:p>
                  </a:txBody>
                  <a:tcPr anchor="ctr" marL="109728" marR="109728" marT="54864" marB="54864">
                    <a:lnB w="9525" cap="flat" cmpd="sng" algn="ctr">
                      <a:solidFill>
                        <a:srgbClr val="4B5320"/>
                      </a:solidFill>
                    </a:lnB>
                    <a:lnT w="9525" cap="flat" cmpd="sng" algn="ctr">
                      <a:solidFill>
                        <a:srgbClr val="4B5320"/>
                      </a:solidFill>
                    </a:lnT>
                    <a:lnR w="9525" cap="flat" cmpd="sng" algn="ctr">
                      <a:solidFill>
                        <a:srgbClr val="4B5320"/>
                      </a:solidFill>
                    </a:lnR>
                    <a:lnL w="9525" cap="flat" cmpd="sng" algn="ctr">
                      <a:solidFill>
                        <a:srgbClr val="4B5320"/>
                      </a:solidFill>
                    </a:lnL>
                    <a:solidFill>
                      <a:srgbClr val="4B5320"/>
                    </a:solidFill>
                  </a:tcPr>
                </a:tc>
              </a:tr>
              <a:tr h="667512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2200" b="1">
                          <a:solidFill>
                            <a:srgbClr val="4B5320"/>
                          </a:solidFill>
                          <a:latin typeface="Arial"/>
                        </a:rPr>
                        <a:t>Prep Stage</a:t>
                      </a:r>
                    </a:p>
                  </a:txBody>
                  <a:tcPr anchor="ctr" marL="109728" marR="109728" marT="54864" marB="54864">
                    <a:lnB w="9525" cap="flat" cmpd="sng" algn="ctr">
                      <a:solidFill>
                        <a:srgbClr val="4B5320"/>
                      </a:solidFill>
                    </a:lnB>
                    <a:lnT w="9525" cap="flat" cmpd="sng" algn="ctr">
                      <a:solidFill>
                        <a:srgbClr val="4B5320"/>
                      </a:solidFill>
                    </a:lnT>
                    <a:lnR w="9525" cap="flat" cmpd="sng" algn="ctr">
                      <a:solidFill>
                        <a:srgbClr val="4B5320"/>
                      </a:solidFill>
                    </a:lnR>
                    <a:lnL w="9525" cap="flat" cmpd="sng" algn="ctr">
                      <a:solidFill>
                        <a:srgbClr val="4B5320"/>
                      </a:solidFill>
                    </a:lnL>
                    <a:solidFill>
                      <a:srgbClr val="F4F2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2000" b="0">
                          <a:solidFill>
                            <a:srgbClr val="1B1F23"/>
                          </a:solidFill>
                          <a:latin typeface="Arial"/>
                        </a:rPr>
                        <a:t>1. UWF/volunteer forces tasked within div AOP.</a:t>
                      </a:r>
                    </a:p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2000" b="0">
                          <a:solidFill>
                            <a:srgbClr val="1B1F23"/>
                          </a:solidFill>
                          <a:latin typeface="Arial"/>
                        </a:rPr>
                        <a:t>2. UWF stay-behind cells and reporting drills estb.</a:t>
                      </a:r>
                    </a:p>
                  </a:txBody>
                  <a:tcPr anchor="ctr" marL="109728" marR="109728" marT="54864" marB="54864">
                    <a:lnB w="9525" cap="flat" cmpd="sng" algn="ctr">
                      <a:solidFill>
                        <a:srgbClr val="4B5320"/>
                      </a:solidFill>
                    </a:lnB>
                    <a:lnT w="9525" cap="flat" cmpd="sng" algn="ctr">
                      <a:solidFill>
                        <a:srgbClr val="4B5320"/>
                      </a:solidFill>
                    </a:lnT>
                    <a:lnR w="9525" cap="flat" cmpd="sng" algn="ctr">
                      <a:solidFill>
                        <a:srgbClr val="4B5320"/>
                      </a:solidFill>
                    </a:lnR>
                    <a:lnL w="9525" cap="flat" cmpd="sng" algn="ctr">
                      <a:solidFill>
                        <a:srgbClr val="4B5320"/>
                      </a:solidFill>
                    </a:lnL>
                    <a:solidFill>
                      <a:srgbClr val="F4F2EC"/>
                    </a:solidFill>
                  </a:tcPr>
                </a:tc>
              </a:tr>
              <a:tr h="667512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2200" b="1">
                          <a:solidFill>
                            <a:srgbClr val="4B5320"/>
                          </a:solidFill>
                          <a:latin typeface="Arial"/>
                        </a:rPr>
                        <a:t>PS-1</a:t>
                      </a:r>
                    </a:p>
                  </a:txBody>
                  <a:tcPr anchor="ctr" marL="109728" marR="109728" marT="54864" marB="54864">
                    <a:lnB w="9525" cap="flat" cmpd="sng" algn="ctr">
                      <a:solidFill>
                        <a:srgbClr val="4B5320"/>
                      </a:solidFill>
                    </a:lnB>
                    <a:lnT w="9525" cap="flat" cmpd="sng" algn="ctr">
                      <a:solidFill>
                        <a:srgbClr val="4B5320"/>
                      </a:solidFill>
                    </a:lnT>
                    <a:lnR w="9525" cap="flat" cmpd="sng" algn="ctr">
                      <a:solidFill>
                        <a:srgbClr val="4B5320"/>
                      </a:solidFill>
                    </a:lnR>
                    <a:lnL w="9525" cap="flat" cmpd="sng" algn="ctr">
                      <a:solidFill>
                        <a:srgbClr val="4B5320"/>
                      </a:solidFill>
                    </a:lnL>
                    <a:solidFill>
                      <a:srgbClr val="F4F2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2000" b="0">
                          <a:solidFill>
                            <a:srgbClr val="1B1F23"/>
                          </a:solidFill>
                          <a:latin typeface="Arial"/>
                        </a:rPr>
                        <a:t>1. UWF stay-behind int on RL mov beyond IB (both sectors).</a:t>
                      </a:r>
                    </a:p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2000" b="0">
                          <a:solidFill>
                            <a:srgbClr val="1B1F23"/>
                          </a:solidFill>
                          <a:latin typeface="Arial"/>
                        </a:rPr>
                        <a:t>2. UWF-Bde int handover and reporting.</a:t>
                      </a:r>
                    </a:p>
                  </a:txBody>
                  <a:tcPr anchor="ctr" marL="109728" marR="109728" marT="54864" marB="54864">
                    <a:lnB w="9525" cap="flat" cmpd="sng" algn="ctr">
                      <a:solidFill>
                        <a:srgbClr val="4B5320"/>
                      </a:solidFill>
                    </a:lnB>
                    <a:lnT w="9525" cap="flat" cmpd="sng" algn="ctr">
                      <a:solidFill>
                        <a:srgbClr val="4B5320"/>
                      </a:solidFill>
                    </a:lnT>
                    <a:lnR w="9525" cap="flat" cmpd="sng" algn="ctr">
                      <a:solidFill>
                        <a:srgbClr val="4B5320"/>
                      </a:solidFill>
                    </a:lnR>
                    <a:lnL w="9525" cap="flat" cmpd="sng" algn="ctr">
                      <a:solidFill>
                        <a:srgbClr val="4B5320"/>
                      </a:solidFill>
                    </a:lnL>
                    <a:solidFill>
                      <a:srgbClr val="F4F2EC"/>
                    </a:solidFill>
                  </a:tcPr>
                </a:tc>
              </a:tr>
              <a:tr h="667512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2200" b="1">
                          <a:solidFill>
                            <a:srgbClr val="4B5320"/>
                          </a:solidFill>
                          <a:latin typeface="Arial"/>
                        </a:rPr>
                        <a:t>PS-2</a:t>
                      </a:r>
                    </a:p>
                  </a:txBody>
                  <a:tcPr anchor="ctr" marL="109728" marR="109728" marT="54864" marB="54864">
                    <a:lnB w="9525" cap="flat" cmpd="sng" algn="ctr">
                      <a:solidFill>
                        <a:srgbClr val="4B5320"/>
                      </a:solidFill>
                    </a:lnB>
                    <a:lnT w="9525" cap="flat" cmpd="sng" algn="ctr">
                      <a:solidFill>
                        <a:srgbClr val="4B5320"/>
                      </a:solidFill>
                    </a:lnT>
                    <a:lnR w="9525" cap="flat" cmpd="sng" algn="ctr">
                      <a:solidFill>
                        <a:srgbClr val="4B5320"/>
                      </a:solidFill>
                    </a:lnR>
                    <a:lnL w="9525" cap="flat" cmpd="sng" algn="ctr">
                      <a:solidFill>
                        <a:srgbClr val="4B5320"/>
                      </a:solidFill>
                    </a:lnL>
                    <a:solidFill>
                      <a:srgbClr val="F4F2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2000" b="0">
                          <a:solidFill>
                            <a:srgbClr val="1B1F23"/>
                          </a:solidFill>
                          <a:latin typeface="Arial"/>
                        </a:rPr>
                        <a:t>1. UWF guides for route/approach march (both sectors).</a:t>
                      </a:r>
                    </a:p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2000" b="0">
                          <a:solidFill>
                            <a:srgbClr val="1B1F23"/>
                          </a:solidFill>
                          <a:latin typeface="Arial"/>
                        </a:rPr>
                        <a:t>2. UWF int on RL res mov and reinforcement.</a:t>
                      </a:r>
                    </a:p>
                  </a:txBody>
                  <a:tcPr anchor="ctr" marL="109728" marR="109728" marT="54864" marB="54864">
                    <a:lnB w="9525" cap="flat" cmpd="sng" algn="ctr">
                      <a:solidFill>
                        <a:srgbClr val="4B5320"/>
                      </a:solidFill>
                    </a:lnB>
                    <a:lnT w="9525" cap="flat" cmpd="sng" algn="ctr">
                      <a:solidFill>
                        <a:srgbClr val="4B5320"/>
                      </a:solidFill>
                    </a:lnT>
                    <a:lnR w="9525" cap="flat" cmpd="sng" algn="ctr">
                      <a:solidFill>
                        <a:srgbClr val="4B5320"/>
                      </a:solidFill>
                    </a:lnR>
                    <a:lnL w="9525" cap="flat" cmpd="sng" algn="ctr">
                      <a:solidFill>
                        <a:srgbClr val="4B5320"/>
                      </a:solidFill>
                    </a:lnL>
                    <a:solidFill>
                      <a:srgbClr val="F4F2EC"/>
                    </a:solidFill>
                  </a:tcPr>
                </a:tc>
              </a:tr>
              <a:tr h="667512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2200" b="1">
                          <a:solidFill>
                            <a:srgbClr val="4B5320"/>
                          </a:solidFill>
                          <a:latin typeface="Arial"/>
                        </a:rPr>
                        <a:t>PS-3</a:t>
                      </a:r>
                    </a:p>
                  </a:txBody>
                  <a:tcPr anchor="ctr" marL="109728" marR="109728" marT="54864" marB="54864">
                    <a:lnB w="9525" cap="flat" cmpd="sng" algn="ctr">
                      <a:solidFill>
                        <a:srgbClr val="4B5320"/>
                      </a:solidFill>
                    </a:lnB>
                    <a:lnT w="9525" cap="flat" cmpd="sng" algn="ctr">
                      <a:solidFill>
                        <a:srgbClr val="4B5320"/>
                      </a:solidFill>
                    </a:lnT>
                    <a:lnR w="9525" cap="flat" cmpd="sng" algn="ctr">
                      <a:solidFill>
                        <a:srgbClr val="4B5320"/>
                      </a:solidFill>
                    </a:lnR>
                    <a:lnL w="9525" cap="flat" cmpd="sng" algn="ctr">
                      <a:solidFill>
                        <a:srgbClr val="4B5320"/>
                      </a:solidFill>
                    </a:lnL>
                    <a:solidFill>
                      <a:srgbClr val="F4F2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2000" b="0">
                          <a:solidFill>
                            <a:srgbClr val="1B1F23"/>
                          </a:solidFill>
                          <a:latin typeface="Arial"/>
                        </a:rPr>
                        <a:t>1. UWF int on RL FUP activity and bypass indicators (North).</a:t>
                      </a:r>
                    </a:p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2000" b="0">
                          <a:solidFill>
                            <a:srgbClr val="1B1F23"/>
                          </a:solidFill>
                          <a:latin typeface="Arial"/>
                        </a:rPr>
                        <a:t>2. UWF int on RL armr reinforcement (South).</a:t>
                      </a:r>
                    </a:p>
                  </a:txBody>
                  <a:tcPr anchor="ctr" marL="109728" marR="109728" marT="54864" marB="54864">
                    <a:lnB w="9525" cap="flat" cmpd="sng" algn="ctr">
                      <a:solidFill>
                        <a:srgbClr val="4B5320"/>
                      </a:solidFill>
                    </a:lnB>
                    <a:lnT w="9525" cap="flat" cmpd="sng" algn="ctr">
                      <a:solidFill>
                        <a:srgbClr val="4B5320"/>
                      </a:solidFill>
                    </a:lnT>
                    <a:lnR w="9525" cap="flat" cmpd="sng" algn="ctr">
                      <a:solidFill>
                        <a:srgbClr val="4B5320"/>
                      </a:solidFill>
                    </a:lnR>
                    <a:lnL w="9525" cap="flat" cmpd="sng" algn="ctr">
                      <a:solidFill>
                        <a:srgbClr val="4B5320"/>
                      </a:solidFill>
                    </a:lnL>
                    <a:solidFill>
                      <a:srgbClr val="F4F2EC"/>
                    </a:solidFill>
                  </a:tcPr>
                </a:tc>
              </a:tr>
              <a:tr h="667512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2200" b="1">
                          <a:solidFill>
                            <a:srgbClr val="4B5320"/>
                          </a:solidFill>
                          <a:latin typeface="Arial"/>
                        </a:rPr>
                        <a:t>PS-4</a:t>
                      </a:r>
                    </a:p>
                  </a:txBody>
                  <a:tcPr anchor="ctr" marL="109728" marR="109728" marT="54864" marB="54864">
                    <a:lnB w="9525" cap="flat" cmpd="sng" algn="ctr">
                      <a:solidFill>
                        <a:srgbClr val="4B5320"/>
                      </a:solidFill>
                    </a:lnB>
                    <a:lnT w="9525" cap="flat" cmpd="sng" algn="ctr">
                      <a:solidFill>
                        <a:srgbClr val="4B5320"/>
                      </a:solidFill>
                    </a:lnT>
                    <a:lnR w="9525" cap="flat" cmpd="sng" algn="ctr">
                      <a:solidFill>
                        <a:srgbClr val="4B5320"/>
                      </a:solidFill>
                    </a:lnR>
                    <a:lnL w="9525" cap="flat" cmpd="sng" algn="ctr">
                      <a:solidFill>
                        <a:srgbClr val="4B5320"/>
                      </a:solidFill>
                    </a:lnL>
                    <a:solidFill>
                      <a:srgbClr val="F4F2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2000" b="0">
                          <a:solidFill>
                            <a:srgbClr val="1B1F23"/>
                          </a:solidFill>
                          <a:latin typeface="Arial"/>
                        </a:rPr>
                        <a:t>1. UWF rpt on RL heliborne/para insertion in depth.</a:t>
                      </a:r>
                    </a:p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2000" b="0">
                          <a:solidFill>
                            <a:srgbClr val="1B1F23"/>
                          </a:solidFill>
                          <a:latin typeface="Arial"/>
                        </a:rPr>
                        <a:t>2. UWF int on RL Div Res mov towards BISHALGARH.</a:t>
                      </a:r>
                    </a:p>
                  </a:txBody>
                  <a:tcPr anchor="ctr" marL="109728" marR="109728" marT="54864" marB="54864">
                    <a:lnB w="9525" cap="flat" cmpd="sng" algn="ctr">
                      <a:solidFill>
                        <a:srgbClr val="4B5320"/>
                      </a:solidFill>
                    </a:lnB>
                    <a:lnT w="9525" cap="flat" cmpd="sng" algn="ctr">
                      <a:solidFill>
                        <a:srgbClr val="4B5320"/>
                      </a:solidFill>
                    </a:lnT>
                    <a:lnR w="9525" cap="flat" cmpd="sng" algn="ctr">
                      <a:solidFill>
                        <a:srgbClr val="4B5320"/>
                      </a:solidFill>
                    </a:lnR>
                    <a:lnL w="9525" cap="flat" cmpd="sng" algn="ctr">
                      <a:solidFill>
                        <a:srgbClr val="4B5320"/>
                      </a:solidFill>
                    </a:lnL>
                    <a:solidFill>
                      <a:srgbClr val="F4F2EC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48640" y="6080760"/>
            <a:ext cx="1109441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 i="1">
                <a:solidFill>
                  <a:srgbClr val="B08D57"/>
                </a:solidFill>
                <a:latin typeface="Arial"/>
              </a:rPr>
              <a:t>Source: EX DURJOY GHATI Obj-Lessons Matrix, 33 Inf Div.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814255" y="6473952"/>
            <a:ext cx="182880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8DC455E8-D6F8-41F5-855A-C32F096F80FA}" type="slidenum">
              <a:rPr lang="en-US" sz="1600" b="1">
                <a:solidFill>
                  <a:srgbClr val="B08D57"/>
                </a:solidFill>
                <a:latin typeface="Arial"/>
              </a:rPr>
              <a:t>1</a:t>
            </a:fld>
            <a:r>
              <a:rPr sz="1600" b="1">
                <a:solidFill>
                  <a:srgbClr val="B08D57"/>
                </a:solidFill>
                <a:latin typeface="Arial"/>
              </a:rPr>
              <a:t> /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 spc="60">
                <a:solidFill>
                  <a:srgbClr val="B08D57"/>
                </a:solidFill>
                <a:latin typeface="Arial"/>
              </a:rPr>
              <a:t>33 INF DIV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28255" y="137160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 i="0" spc="40">
                <a:solidFill>
                  <a:srgbClr val="B08D57"/>
                </a:solidFill>
                <a:latin typeface="Arial"/>
              </a:rPr>
              <a:t>EX DURJOY GHATI (CAX)-19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 i="1">
                <a:solidFill>
                  <a:srgbClr val="B08D57"/>
                </a:solidFill>
                <a:latin typeface="Arial"/>
              </a:rPr>
              <a:t>OFFICIAL / FOR BRIEFING USE ONLY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02920"/>
            <a:ext cx="1109441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 spc="150">
                <a:solidFill>
                  <a:srgbClr val="1B1F23"/>
                </a:solidFill>
                <a:latin typeface="Arial"/>
              </a:rPr>
              <a:t>LESSON 5 — CONDUCT OF CAX — CORRECT PROCEDURE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48640" y="1298448"/>
            <a:ext cx="11094415" cy="0"/>
          </a:xfrm>
          <a:prstGeom prst="line">
            <a:avLst/>
          </a:prstGeom>
          <a:ln w="19050">
            <a:solidFill>
              <a:srgbClr val="B08D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48640" y="1481328"/>
            <a:ext cx="1109441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4B5320"/>
                </a:solidFill>
                <a:latin typeface="Arial"/>
              </a:rPr>
              <a:t>Attainment Process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48640" y="1965960"/>
          <a:ext cx="11094415" cy="379476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463040"/>
                <a:gridCol w="9631375"/>
              </a:tblGrid>
              <a:tr h="4572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2200" b="1">
                          <a:solidFill>
                            <a:srgbClr val="F4F2EC"/>
                          </a:solidFill>
                          <a:latin typeface="Arial"/>
                        </a:rPr>
                        <a:t>Phase</a:t>
                      </a:r>
                    </a:p>
                  </a:txBody>
                  <a:tcPr anchor="ctr" marL="109728" marR="109728" marT="54864" marB="54864">
                    <a:lnB w="9525" cap="flat" cmpd="sng" algn="ctr">
                      <a:solidFill>
                        <a:srgbClr val="4B5320"/>
                      </a:solidFill>
                    </a:lnB>
                    <a:lnT w="9525" cap="flat" cmpd="sng" algn="ctr">
                      <a:solidFill>
                        <a:srgbClr val="4B5320"/>
                      </a:solidFill>
                    </a:lnT>
                    <a:lnR w="9525" cap="flat" cmpd="sng" algn="ctr">
                      <a:solidFill>
                        <a:srgbClr val="4B5320"/>
                      </a:solidFill>
                    </a:lnR>
                    <a:lnL w="9525" cap="flat" cmpd="sng" algn="ctr">
                      <a:solidFill>
                        <a:srgbClr val="4B5320"/>
                      </a:solidFill>
                    </a:lnL>
                    <a:solidFill>
                      <a:srgbClr val="4B532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2200" b="1">
                          <a:solidFill>
                            <a:srgbClr val="F4F2EC"/>
                          </a:solidFill>
                          <a:latin typeface="Arial"/>
                        </a:rPr>
                        <a:t>Key Activities</a:t>
                      </a:r>
                    </a:p>
                  </a:txBody>
                  <a:tcPr anchor="ctr" marL="109728" marR="109728" marT="54864" marB="54864">
                    <a:lnB w="9525" cap="flat" cmpd="sng" algn="ctr">
                      <a:solidFill>
                        <a:srgbClr val="4B5320"/>
                      </a:solidFill>
                    </a:lnB>
                    <a:lnT w="9525" cap="flat" cmpd="sng" algn="ctr">
                      <a:solidFill>
                        <a:srgbClr val="4B5320"/>
                      </a:solidFill>
                    </a:lnT>
                    <a:lnR w="9525" cap="flat" cmpd="sng" algn="ctr">
                      <a:solidFill>
                        <a:srgbClr val="4B5320"/>
                      </a:solidFill>
                    </a:lnR>
                    <a:lnL w="9525" cap="flat" cmpd="sng" algn="ctr">
                      <a:solidFill>
                        <a:srgbClr val="4B5320"/>
                      </a:solidFill>
                    </a:lnL>
                    <a:solidFill>
                      <a:srgbClr val="4B5320"/>
                    </a:solidFill>
                  </a:tcPr>
                </a:tc>
              </a:tr>
              <a:tr h="667512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2200" b="1">
                          <a:solidFill>
                            <a:srgbClr val="4B5320"/>
                          </a:solidFill>
                          <a:latin typeface="Arial"/>
                        </a:rPr>
                        <a:t>Prep Stage</a:t>
                      </a:r>
                    </a:p>
                  </a:txBody>
                  <a:tcPr anchor="ctr" marL="109728" marR="109728" marT="54864" marB="54864">
                    <a:lnB w="9525" cap="flat" cmpd="sng" algn="ctr">
                      <a:solidFill>
                        <a:srgbClr val="4B5320"/>
                      </a:solidFill>
                    </a:lnB>
                    <a:lnT w="9525" cap="flat" cmpd="sng" algn="ctr">
                      <a:solidFill>
                        <a:srgbClr val="4B5320"/>
                      </a:solidFill>
                    </a:lnT>
                    <a:lnR w="9525" cap="flat" cmpd="sng" algn="ctr">
                      <a:solidFill>
                        <a:srgbClr val="4B5320"/>
                      </a:solidFill>
                    </a:lnR>
                    <a:lnL w="9525" cap="flat" cmpd="sng" algn="ctr">
                      <a:solidFill>
                        <a:srgbClr val="4B5320"/>
                      </a:solidFill>
                    </a:lnL>
                    <a:solidFill>
                      <a:srgbClr val="F4F2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2000" b="0">
                          <a:solidFill>
                            <a:srgbClr val="1B1F23"/>
                          </a:solidFill>
                          <a:latin typeface="Arial"/>
                        </a:rPr>
                        <a:t>1. IPC, gr recce and Final Terr Updt.</a:t>
                      </a:r>
                    </a:p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2000" b="0">
                          <a:solidFill>
                            <a:srgbClr val="1B1F23"/>
                          </a:solidFill>
                          <a:latin typeface="Arial"/>
                        </a:rPr>
                        <a:t>2. Tabletop WG, virtual depl and MPC/FCC.</a:t>
                      </a:r>
                    </a:p>
                  </a:txBody>
                  <a:tcPr anchor="ctr" marL="109728" marR="109728" marT="54864" marB="54864">
                    <a:lnB w="9525" cap="flat" cmpd="sng" algn="ctr">
                      <a:solidFill>
                        <a:srgbClr val="4B5320"/>
                      </a:solidFill>
                    </a:lnB>
                    <a:lnT w="9525" cap="flat" cmpd="sng" algn="ctr">
                      <a:solidFill>
                        <a:srgbClr val="4B5320"/>
                      </a:solidFill>
                    </a:lnT>
                    <a:lnR w="9525" cap="flat" cmpd="sng" algn="ctr">
                      <a:solidFill>
                        <a:srgbClr val="4B5320"/>
                      </a:solidFill>
                    </a:lnR>
                    <a:lnL w="9525" cap="flat" cmpd="sng" algn="ctr">
                      <a:solidFill>
                        <a:srgbClr val="4B5320"/>
                      </a:solidFill>
                    </a:lnL>
                    <a:solidFill>
                      <a:srgbClr val="F4F2EC"/>
                    </a:solidFill>
                  </a:tcPr>
                </a:tc>
              </a:tr>
              <a:tr h="667512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2200" b="1">
                          <a:solidFill>
                            <a:srgbClr val="4B5320"/>
                          </a:solidFill>
                          <a:latin typeface="Arial"/>
                        </a:rPr>
                        <a:t>PS-1</a:t>
                      </a:r>
                    </a:p>
                  </a:txBody>
                  <a:tcPr anchor="ctr" marL="109728" marR="109728" marT="54864" marB="54864">
                    <a:lnB w="9525" cap="flat" cmpd="sng" algn="ctr">
                      <a:solidFill>
                        <a:srgbClr val="4B5320"/>
                      </a:solidFill>
                    </a:lnB>
                    <a:lnT w="9525" cap="flat" cmpd="sng" algn="ctr">
                      <a:solidFill>
                        <a:srgbClr val="4B5320"/>
                      </a:solidFill>
                    </a:lnT>
                    <a:lnR w="9525" cap="flat" cmpd="sng" algn="ctr">
                      <a:solidFill>
                        <a:srgbClr val="4B5320"/>
                      </a:solidFill>
                    </a:lnR>
                    <a:lnL w="9525" cap="flat" cmpd="sng" algn="ctr">
                      <a:solidFill>
                        <a:srgbClr val="4B5320"/>
                      </a:solidFill>
                    </a:lnL>
                    <a:solidFill>
                      <a:srgbClr val="F4F2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2000" b="0">
                          <a:solidFill>
                            <a:srgbClr val="1B1F23"/>
                          </a:solidFill>
                          <a:latin typeface="Arial"/>
                        </a:rPr>
                        <a:t>1. Threat Model/HPT list and DST applied in threat ident.</a:t>
                      </a:r>
                    </a:p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2000" b="0">
                          <a:solidFill>
                            <a:srgbClr val="1B1F23"/>
                          </a:solidFill>
                          <a:latin typeface="Arial"/>
                        </a:rPr>
                        <a:t>2. Spl SITREP and CCIR process initiated.</a:t>
                      </a:r>
                    </a:p>
                  </a:txBody>
                  <a:tcPr anchor="ctr" marL="109728" marR="109728" marT="54864" marB="54864">
                    <a:lnB w="9525" cap="flat" cmpd="sng" algn="ctr">
                      <a:solidFill>
                        <a:srgbClr val="4B5320"/>
                      </a:solidFill>
                    </a:lnB>
                    <a:lnT w="9525" cap="flat" cmpd="sng" algn="ctr">
                      <a:solidFill>
                        <a:srgbClr val="4B5320"/>
                      </a:solidFill>
                    </a:lnT>
                    <a:lnR w="9525" cap="flat" cmpd="sng" algn="ctr">
                      <a:solidFill>
                        <a:srgbClr val="4B5320"/>
                      </a:solidFill>
                    </a:lnR>
                    <a:lnL w="9525" cap="flat" cmpd="sng" algn="ctr">
                      <a:solidFill>
                        <a:srgbClr val="4B5320"/>
                      </a:solidFill>
                    </a:lnL>
                    <a:solidFill>
                      <a:srgbClr val="F4F2EC"/>
                    </a:solidFill>
                  </a:tcPr>
                </a:tc>
              </a:tr>
              <a:tr h="667512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2200" b="1">
                          <a:solidFill>
                            <a:srgbClr val="4B5320"/>
                          </a:solidFill>
                          <a:latin typeface="Arial"/>
                        </a:rPr>
                        <a:t>PS-2</a:t>
                      </a:r>
                    </a:p>
                  </a:txBody>
                  <a:tcPr anchor="ctr" marL="109728" marR="109728" marT="54864" marB="54864">
                    <a:lnB w="9525" cap="flat" cmpd="sng" algn="ctr">
                      <a:solidFill>
                        <a:srgbClr val="4B5320"/>
                      </a:solidFill>
                    </a:lnB>
                    <a:lnT w="9525" cap="flat" cmpd="sng" algn="ctr">
                      <a:solidFill>
                        <a:srgbClr val="4B5320"/>
                      </a:solidFill>
                    </a:lnT>
                    <a:lnR w="9525" cap="flat" cmpd="sng" algn="ctr">
                      <a:solidFill>
                        <a:srgbClr val="4B5320"/>
                      </a:solidFill>
                    </a:lnR>
                    <a:lnL w="9525" cap="flat" cmpd="sng" algn="ctr">
                      <a:solidFill>
                        <a:srgbClr val="4B5320"/>
                      </a:solidFill>
                    </a:lnL>
                    <a:solidFill>
                      <a:srgbClr val="F4F2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2000" b="0">
                          <a:solidFill>
                            <a:srgbClr val="1B1F23"/>
                          </a:solidFill>
                          <a:latin typeface="Arial"/>
                        </a:rPr>
                        <a:t>1. BOS Sync Matrix applied in decision rows.</a:t>
                      </a:r>
                    </a:p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2000" b="0">
                          <a:solidFill>
                            <a:srgbClr val="1B1F23"/>
                          </a:solidFill>
                          <a:latin typeface="Arial"/>
                        </a:rPr>
                        <a:t>2. Two-tier div-bde play with EXCON dir.</a:t>
                      </a:r>
                    </a:p>
                  </a:txBody>
                  <a:tcPr anchor="ctr" marL="109728" marR="109728" marT="54864" marB="54864">
                    <a:lnB w="9525" cap="flat" cmpd="sng" algn="ctr">
                      <a:solidFill>
                        <a:srgbClr val="4B5320"/>
                      </a:solidFill>
                    </a:lnB>
                    <a:lnT w="9525" cap="flat" cmpd="sng" algn="ctr">
                      <a:solidFill>
                        <a:srgbClr val="4B5320"/>
                      </a:solidFill>
                    </a:lnT>
                    <a:lnR w="9525" cap="flat" cmpd="sng" algn="ctr">
                      <a:solidFill>
                        <a:srgbClr val="4B5320"/>
                      </a:solidFill>
                    </a:lnR>
                    <a:lnL w="9525" cap="flat" cmpd="sng" algn="ctr">
                      <a:solidFill>
                        <a:srgbClr val="4B5320"/>
                      </a:solidFill>
                    </a:lnL>
                    <a:solidFill>
                      <a:srgbClr val="F4F2EC"/>
                    </a:solidFill>
                  </a:tcPr>
                </a:tc>
              </a:tr>
              <a:tr h="667512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2200" b="1">
                          <a:solidFill>
                            <a:srgbClr val="4B5320"/>
                          </a:solidFill>
                          <a:latin typeface="Arial"/>
                        </a:rPr>
                        <a:t>PS-3</a:t>
                      </a:r>
                    </a:p>
                  </a:txBody>
                  <a:tcPr anchor="ctr" marL="109728" marR="109728" marT="54864" marB="54864">
                    <a:lnB w="9525" cap="flat" cmpd="sng" algn="ctr">
                      <a:solidFill>
                        <a:srgbClr val="4B5320"/>
                      </a:solidFill>
                    </a:lnB>
                    <a:lnT w="9525" cap="flat" cmpd="sng" algn="ctr">
                      <a:solidFill>
                        <a:srgbClr val="4B5320"/>
                      </a:solidFill>
                    </a:lnT>
                    <a:lnR w="9525" cap="flat" cmpd="sng" algn="ctr">
                      <a:solidFill>
                        <a:srgbClr val="4B5320"/>
                      </a:solidFill>
                    </a:lnR>
                    <a:lnL w="9525" cap="flat" cmpd="sng" algn="ctr">
                      <a:solidFill>
                        <a:srgbClr val="4B5320"/>
                      </a:solidFill>
                    </a:lnL>
                    <a:solidFill>
                      <a:srgbClr val="F4F2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2000" b="0">
                          <a:solidFill>
                            <a:srgbClr val="1B1F23"/>
                          </a:solidFill>
                          <a:latin typeface="Arial"/>
                        </a:rPr>
                        <a:t>1. Relative Cbt Power Matrix and Attk Guidance Matrix applied.</a:t>
                      </a:r>
                    </a:p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2000" b="0">
                          <a:solidFill>
                            <a:srgbClr val="1B1F23"/>
                          </a:solidFill>
                          <a:latin typeface="Arial"/>
                        </a:rPr>
                        <a:t>2. Div HQ decision cycle iaw DST.</a:t>
                      </a:r>
                    </a:p>
                  </a:txBody>
                  <a:tcPr anchor="ctr" marL="109728" marR="109728" marT="54864" marB="54864">
                    <a:lnB w="9525" cap="flat" cmpd="sng" algn="ctr">
                      <a:solidFill>
                        <a:srgbClr val="4B5320"/>
                      </a:solidFill>
                    </a:lnB>
                    <a:lnT w="9525" cap="flat" cmpd="sng" algn="ctr">
                      <a:solidFill>
                        <a:srgbClr val="4B5320"/>
                      </a:solidFill>
                    </a:lnT>
                    <a:lnR w="9525" cap="flat" cmpd="sng" algn="ctr">
                      <a:solidFill>
                        <a:srgbClr val="4B5320"/>
                      </a:solidFill>
                    </a:lnR>
                    <a:lnL w="9525" cap="flat" cmpd="sng" algn="ctr">
                      <a:solidFill>
                        <a:srgbClr val="4B5320"/>
                      </a:solidFill>
                    </a:lnL>
                    <a:solidFill>
                      <a:srgbClr val="F4F2EC"/>
                    </a:solidFill>
                  </a:tcPr>
                </a:tc>
              </a:tr>
              <a:tr h="667512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2200" b="1">
                          <a:solidFill>
                            <a:srgbClr val="4B5320"/>
                          </a:solidFill>
                          <a:latin typeface="Arial"/>
                        </a:rPr>
                        <a:t>PS-4</a:t>
                      </a:r>
                    </a:p>
                  </a:txBody>
                  <a:tcPr anchor="ctr" marL="109728" marR="109728" marT="54864" marB="54864">
                    <a:lnB w="9525" cap="flat" cmpd="sng" algn="ctr">
                      <a:solidFill>
                        <a:srgbClr val="4B5320"/>
                      </a:solidFill>
                    </a:lnB>
                    <a:lnT w="9525" cap="flat" cmpd="sng" algn="ctr">
                      <a:solidFill>
                        <a:srgbClr val="4B5320"/>
                      </a:solidFill>
                    </a:lnT>
                    <a:lnR w="9525" cap="flat" cmpd="sng" algn="ctr">
                      <a:solidFill>
                        <a:srgbClr val="4B5320"/>
                      </a:solidFill>
                    </a:lnR>
                    <a:lnL w="9525" cap="flat" cmpd="sng" algn="ctr">
                      <a:solidFill>
                        <a:srgbClr val="4B5320"/>
                      </a:solidFill>
                    </a:lnL>
                    <a:solidFill>
                      <a:srgbClr val="F4F2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2000" b="0">
                          <a:solidFill>
                            <a:srgbClr val="1B1F23"/>
                          </a:solidFill>
                          <a:latin typeface="Arial"/>
                        </a:rPr>
                        <a:t>1. DST/CCIR/BOS Sync Matrix fully applied to Div HQ dir.</a:t>
                      </a:r>
                    </a:p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2000" b="0">
                          <a:solidFill>
                            <a:srgbClr val="1B1F23"/>
                          </a:solidFill>
                          <a:latin typeface="Arial"/>
                        </a:rPr>
                        <a:t>2. Prep for AAR/LLT eval of comd and staff performance.</a:t>
                      </a:r>
                    </a:p>
                  </a:txBody>
                  <a:tcPr anchor="ctr" marL="109728" marR="109728" marT="54864" marB="54864">
                    <a:lnB w="9525" cap="flat" cmpd="sng" algn="ctr">
                      <a:solidFill>
                        <a:srgbClr val="4B5320"/>
                      </a:solidFill>
                    </a:lnB>
                    <a:lnT w="9525" cap="flat" cmpd="sng" algn="ctr">
                      <a:solidFill>
                        <a:srgbClr val="4B5320"/>
                      </a:solidFill>
                    </a:lnT>
                    <a:lnR w="9525" cap="flat" cmpd="sng" algn="ctr">
                      <a:solidFill>
                        <a:srgbClr val="4B5320"/>
                      </a:solidFill>
                    </a:lnR>
                    <a:lnL w="9525" cap="flat" cmpd="sng" algn="ctr">
                      <a:solidFill>
                        <a:srgbClr val="4B5320"/>
                      </a:solidFill>
                    </a:lnL>
                    <a:solidFill>
                      <a:srgbClr val="F4F2EC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48640" y="6080760"/>
            <a:ext cx="1109441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 i="1">
                <a:solidFill>
                  <a:srgbClr val="B08D57"/>
                </a:solidFill>
                <a:latin typeface="Arial"/>
              </a:rPr>
              <a:t>Source: EX DURJOY GHATI Obj-Lessons Matrix, 33 Inf Div.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814255" y="6473952"/>
            <a:ext cx="182880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428A71EA-591B-47C8-9962-A34CE5240A4F}" type="slidenum">
              <a:rPr lang="en-US" sz="1600" b="1">
                <a:solidFill>
                  <a:srgbClr val="B08D57"/>
                </a:solidFill>
                <a:latin typeface="Arial"/>
              </a:rPr>
              <a:t>1</a:t>
            </a:fld>
            <a:r>
              <a:rPr sz="1600" b="1">
                <a:solidFill>
                  <a:srgbClr val="B08D57"/>
                </a:solidFill>
                <a:latin typeface="Arial"/>
              </a:rPr>
              <a:t> /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 spc="60">
                <a:solidFill>
                  <a:srgbClr val="B08D57"/>
                </a:solidFill>
                <a:latin typeface="Arial"/>
              </a:rPr>
              <a:t>33 INF DIV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28255" y="137160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 i="0" spc="40">
                <a:solidFill>
                  <a:srgbClr val="B08D57"/>
                </a:solidFill>
                <a:latin typeface="Arial"/>
              </a:rPr>
              <a:t>EX DURJOY GHATI (CAX)-19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 i="1">
                <a:solidFill>
                  <a:srgbClr val="B08D57"/>
                </a:solidFill>
                <a:latin typeface="Arial"/>
              </a:rPr>
              <a:t>OFFICIAL / FOR BRIEFING USE ONLY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02920"/>
            <a:ext cx="1109441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200" b="1" i="0" spc="150">
                <a:solidFill>
                  <a:srgbClr val="1B1F23"/>
                </a:solidFill>
                <a:latin typeface="Arial"/>
              </a:rPr>
              <a:t>KEY TAKEAWAYS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48640" y="1298448"/>
            <a:ext cx="11094415" cy="0"/>
          </a:xfrm>
          <a:prstGeom prst="line">
            <a:avLst/>
          </a:prstGeom>
          <a:ln w="19050">
            <a:solidFill>
              <a:srgbClr val="B08D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48640" y="1737360"/>
            <a:ext cx="5486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4B5320"/>
                </a:solidFill>
                <a:latin typeface="Arial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37360"/>
            <a:ext cx="1054577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0" i="0">
                <a:solidFill>
                  <a:srgbClr val="1B1F23"/>
                </a:solidFill>
                <a:latin typeface="Arial"/>
              </a:rPr>
              <a:t>Validation of the Div Ops Plan iaw Planning Directive 1/2025.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514600"/>
            <a:ext cx="5486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4B5320"/>
                </a:solidFill>
                <a:latin typeface="Arial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2514600"/>
            <a:ext cx="1054577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0" i="0">
                <a:solidFill>
                  <a:srgbClr val="1B1F23"/>
                </a:solidFill>
                <a:latin typeface="Arial"/>
              </a:rPr>
              <a:t>Justification of resource alloc/use (arty, engr, log); identify need for addl resources.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291840"/>
            <a:ext cx="5486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4B5320"/>
                </a:solidFill>
                <a:latin typeface="Arial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3291840"/>
            <a:ext cx="1054577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0" i="0">
                <a:solidFill>
                  <a:srgbClr val="1B1F23"/>
                </a:solidFill>
                <a:latin typeface="Arial"/>
              </a:rPr>
              <a:t>Validation of the time plan for simultaneous offn-def ops at div/bde level.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069080"/>
            <a:ext cx="5486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4B5320"/>
                </a:solidFill>
                <a:latin typeface="Arial"/>
              </a:rPr>
              <a:t>4.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4069080"/>
            <a:ext cx="1054577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0" i="0">
                <a:solidFill>
                  <a:srgbClr val="1B1F23"/>
                </a:solidFill>
                <a:latin typeface="Arial"/>
              </a:rPr>
              <a:t>Identification of coord requirements between Div HQ and flanking bde gps.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4846320"/>
            <a:ext cx="5486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4B5320"/>
                </a:solidFill>
                <a:latin typeface="Arial"/>
              </a:rPr>
              <a:t>5.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4846320"/>
            <a:ext cx="1054577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0" i="0">
                <a:solidFill>
                  <a:srgbClr val="1B1F23"/>
                </a:solidFill>
                <a:latin typeface="Arial"/>
              </a:rPr>
              <a:t>Assessment of capability and correct emp of UWF/volunteer forces and BGB within the div AOP.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814255" y="6473952"/>
            <a:ext cx="182880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12CE78C2-E8BC-478F-970A-7DB3C9C9704E}" type="slidenum">
              <a:rPr lang="en-US" sz="1600" b="1">
                <a:solidFill>
                  <a:srgbClr val="B08D57"/>
                </a:solidFill>
                <a:latin typeface="Arial"/>
              </a:rPr>
              <a:t>1</a:t>
            </a:fld>
            <a:r>
              <a:rPr sz="1600" b="1">
                <a:solidFill>
                  <a:srgbClr val="B08D57"/>
                </a:solidFill>
                <a:latin typeface="Arial"/>
              </a:rPr>
              <a:t> /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 spc="60">
                <a:solidFill>
                  <a:srgbClr val="B08D57"/>
                </a:solidFill>
                <a:latin typeface="Arial"/>
              </a:rPr>
              <a:t>33 INF DIV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28255" y="137160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 i="0" spc="40">
                <a:solidFill>
                  <a:srgbClr val="B08D57"/>
                </a:solidFill>
                <a:latin typeface="Arial"/>
              </a:rPr>
              <a:t>EX DURJOY GHATI (CAX)-19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 i="1">
                <a:solidFill>
                  <a:srgbClr val="B08D57"/>
                </a:solidFill>
                <a:latin typeface="Arial"/>
              </a:rPr>
              <a:t>OFFICIAL / FOR BRIEFING USE ONLY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02920"/>
            <a:ext cx="1109441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200" b="1" i="0" spc="150">
                <a:solidFill>
                  <a:srgbClr val="1B1F23"/>
                </a:solidFill>
                <a:latin typeface="Arial"/>
              </a:rPr>
              <a:t>RECOMMENDATIONS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48640" y="1298448"/>
            <a:ext cx="11094415" cy="0"/>
          </a:xfrm>
          <a:prstGeom prst="line">
            <a:avLst/>
          </a:prstGeom>
          <a:ln w="19050">
            <a:solidFill>
              <a:srgbClr val="B08D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48640" y="1737360"/>
            <a:ext cx="5486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4B5320"/>
                </a:solidFill>
                <a:latin typeface="Arial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37360"/>
            <a:ext cx="10545775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1B1F23"/>
                </a:solidFill>
                <a:latin typeface="Arial"/>
              </a:rPr>
              <a:t>Institutionalise the IPB/DDMP-to-Ops Plan sequence for simultaneous offn-def planning (addresses Lesson 1).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606040"/>
            <a:ext cx="5486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4B5320"/>
                </a:solidFill>
                <a:latin typeface="Arial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2606040"/>
            <a:ext cx="10545775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1B1F23"/>
                </a:solidFill>
                <a:latin typeface="Arial"/>
              </a:rPr>
              <a:t>Formalise Comd Decision Points and delegated decision auth at div/bde level (addresses Lesson 2).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474720"/>
            <a:ext cx="5486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4B5320"/>
                </a:solidFill>
                <a:latin typeface="Arial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3474720"/>
            <a:ext cx="10545775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1B1F23"/>
                </a:solidFill>
                <a:latin typeface="Arial"/>
              </a:rPr>
              <a:t>Build ammo/CASEVAC contingency margins into the log plan for multi-sector ops (addresses Lesson 3).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343400"/>
            <a:ext cx="5486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4B5320"/>
                </a:solidFill>
                <a:latin typeface="Arial"/>
              </a:rPr>
              <a:t>4.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4343400"/>
            <a:ext cx="10545775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1B1F23"/>
                </a:solidFill>
                <a:latin typeface="Arial"/>
              </a:rPr>
              <a:t>Standardise UWF/volunteer tasking, stay-behind cells and reporting drills (addresses Lesson 4).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212080"/>
            <a:ext cx="5486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4B5320"/>
                </a:solidFill>
                <a:latin typeface="Arial"/>
              </a:rPr>
              <a:t>5.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5212080"/>
            <a:ext cx="10545775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1B1F23"/>
                </a:solidFill>
                <a:latin typeface="Arial"/>
              </a:rPr>
              <a:t>Retain the DST/CCIR/BOS Sync Matrix as the standard CAX conduct procedure (addresses Lesson 5).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1F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814255" y="6473952"/>
            <a:ext cx="182880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03145E9E-7009-4CF8-8ABA-5AA0C83C0C14}" type="slidenum">
              <a:rPr lang="en-US" sz="1600" b="1">
                <a:solidFill>
                  <a:srgbClr val="B08D57"/>
                </a:solidFill>
                <a:latin typeface="Arial"/>
              </a:rPr>
              <a:t>1</a:t>
            </a:fld>
            <a:r>
              <a:rPr sz="1600" b="1">
                <a:solidFill>
                  <a:srgbClr val="B08D57"/>
                </a:solidFill>
                <a:latin typeface="Arial"/>
              </a:rPr>
              <a:t> /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74320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000" b="1" i="0" spc="100">
                <a:solidFill>
                  <a:srgbClr val="B08D57"/>
                </a:solidFill>
                <a:latin typeface="Arial"/>
              </a:rPr>
              <a:t>QUESTIONS &amp; DISCUSSION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566160"/>
            <a:ext cx="110944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0" i="0">
                <a:solidFill>
                  <a:srgbClr val="F4F2EC"/>
                </a:solidFill>
                <a:latin typeface="Arial"/>
              </a:rPr>
              <a:t>EX DURJOY GHATI (CAX)-19 • 33 INF DIV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217920"/>
            <a:ext cx="110944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0" i="1">
                <a:solidFill>
                  <a:srgbClr val="B08D57"/>
                </a:solidFill>
                <a:latin typeface="Arial"/>
              </a:rPr>
              <a:t>RESTRICTED — INTERNAL USE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
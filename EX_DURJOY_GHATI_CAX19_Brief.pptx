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D2F7023B-544E-4CEE-A359-A6D97100E1CC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 spc="200">
                <a:solidFill>
                  <a:srgbClr val="B08D57"/>
                </a:solidFill>
                <a:latin typeface="Arial"/>
              </a:rPr>
              <a:t>EXERCISE DURJOY GHATI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 i="0" spc="200">
                <a:solidFill>
                  <a:srgbClr val="F4F2EC"/>
                </a:solidFill>
                <a:latin typeface="Arial"/>
              </a:rPr>
              <a:t>CAX-19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 spc="100">
                <a:solidFill>
                  <a:srgbClr val="4B5320"/>
                </a:solidFill>
                <a:latin typeface="Arial"/>
              </a:rPr>
              <a:t>33 INFANTRY DIVISION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4247" y="3931920"/>
            <a:ext cx="2743200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114800"/>
            <a:ext cx="1109441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 i="1" spc="100">
                <a:solidFill>
                  <a:srgbClr val="F4F2EC"/>
                </a:solidFill>
                <a:latin typeface="Arial"/>
              </a:rPr>
              <a:t>OBJECT-LESSONS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B08D57"/>
                </a:solidFill>
                <a:latin typeface="Arial"/>
              </a:rPr>
              <a:t>Command Post Exercise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276CA925-E974-43C4-ADC9-A552D4341278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 spc="150">
                <a:solidFill>
                  <a:srgbClr val="1B1F23"/>
                </a:solidFill>
                <a:latin typeface="Arial"/>
              </a:rPr>
              <a:t>AGENDA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78308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102714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B1F23"/>
                </a:solidFill>
                <a:latin typeface="Arial"/>
              </a:rPr>
              <a:t>Aim &amp;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41448"/>
            <a:ext cx="102714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B1F23"/>
                </a:solidFill>
                <a:latin typeface="Arial"/>
              </a:rPr>
              <a:t>Exercise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99816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99816"/>
            <a:ext cx="102714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B1F23"/>
                </a:solidFill>
                <a:latin typeface="Arial"/>
              </a:rPr>
              <a:t>Lessons Matrix —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58184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58184"/>
            <a:ext cx="102714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B1F23"/>
                </a:solidFill>
                <a:latin typeface="Arial"/>
              </a:rPr>
              <a:t>Attainment Process by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1655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16552"/>
            <a:ext cx="102714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B1F23"/>
                </a:solidFill>
                <a:latin typeface="Arial"/>
              </a:rPr>
              <a:t>Key Takeaways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74920"/>
            <a:ext cx="1027145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B1F23"/>
                </a:solidFill>
                <a:latin typeface="Arial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2CDC5C2A-624B-4DCE-8CB0-F99B07E1EA3D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 spc="150">
                <a:solidFill>
                  <a:srgbClr val="1B1F23"/>
                </a:solidFill>
                <a:latin typeface="Arial"/>
              </a:rPr>
              <a:t>AIM &amp; OBJECTIVES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4B5320"/>
                </a:solidFill>
                <a:latin typeface="Arial"/>
              </a:rPr>
              <a:t>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To validate the Division’s operational and logistics plans through a simultaneous offensive-defensive command post exercise astride the IB.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063240"/>
            <a:ext cx="11094415" cy="0"/>
          </a:xfrm>
          <a:prstGeom prst="line">
            <a:avLst/>
          </a:prstGeom>
          <a:ln w="12700">
            <a:solidFill>
              <a:srgbClr val="4B5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246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4B5320"/>
                </a:solidFill>
                <a:latin typeface="Arial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48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6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Validate the Division Operations Plan iaw Planning Directive 1/2025.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1688"/>
            <a:ext cx="548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6168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Validate offensive feasibility across the IB by a bde gp and capture area of tac advantage.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28616"/>
            <a:ext cx="548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28616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Assess the viability of the log plan to support the Ops Plan.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95544"/>
            <a:ext cx="548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95544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Examine the effectiveness of employing UWF/volunteers within the div AOP.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18507B8-7D97-4F92-A94C-55AF3EFDD894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 spc="150">
                <a:solidFill>
                  <a:srgbClr val="1B1F23"/>
                </a:solidFill>
                <a:latin typeface="Arial"/>
              </a:rPr>
              <a:t>EXERCISE FRAMEWORK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920240"/>
            <a:ext cx="23621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PREP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362123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B1F23"/>
                </a:solidFill>
                <a:latin typeface="Arial"/>
              </a:rPr>
              <a:t>IPB, Ops Plan formulation, FUP / IB crossing site and Blocking Posn selection.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22243" y="1920240"/>
            <a:ext cx="0" cy="3291840"/>
          </a:xfrm>
          <a:prstGeom prst="line">
            <a:avLst/>
          </a:prstGeom>
          <a:ln w="1270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50843" y="1920240"/>
            <a:ext cx="23621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PS-1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843" y="2697480"/>
            <a:ext cx="2362123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B1F23"/>
                </a:solidFill>
                <a:latin typeface="Arial"/>
              </a:rPr>
              <a:t>Offensive launch across the IB (North) with concurrent defensive organisation (South).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6" y="1920240"/>
            <a:ext cx="0" cy="3291840"/>
          </a:xfrm>
          <a:prstGeom prst="line">
            <a:avLst/>
          </a:prstGeom>
          <a:ln w="1270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6" y="1920240"/>
            <a:ext cx="23621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PS-2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6" y="2697480"/>
            <a:ext cx="2362123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B1F23"/>
                </a:solidFill>
                <a:latin typeface="Arial"/>
              </a:rPr>
              <a:t>Advance and capture in the North; brigade-resourced attack in the South.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449" y="1920240"/>
            <a:ext cx="0" cy="3291840"/>
          </a:xfrm>
          <a:prstGeom prst="line">
            <a:avLst/>
          </a:prstGeom>
          <a:ln w="1270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98049" y="1920240"/>
            <a:ext cx="23621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PS-3 / PS-4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049" y="2697480"/>
            <a:ext cx="2362123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1B1F23"/>
                </a:solidFill>
                <a:latin typeface="Arial"/>
              </a:rPr>
              <a:t>Defence against RL counter-attacks; div resource allocation and climax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CB1BB15B-E8F7-40E8-96A6-96E62CF51C27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 spc="150">
                <a:solidFill>
                  <a:srgbClr val="1B1F23"/>
                </a:solidFill>
                <a:latin typeface="Arial"/>
              </a:rPr>
              <a:t>LESSONS MATRIX — OVERVIEW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91640"/>
          <a:ext cx="11094415" cy="4160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97280"/>
                <a:gridCol w="9997135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200" b="1">
                          <a:solidFill>
                            <a:srgbClr val="F4F2EC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200" b="1">
                          <a:solidFill>
                            <a:srgbClr val="F4F2EC"/>
                          </a:solidFill>
                          <a:latin typeface="Arial"/>
                        </a:rPr>
                        <a:t>Lesson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400" b="1">
                          <a:solidFill>
                            <a:srgbClr val="4B532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400" b="0">
                          <a:solidFill>
                            <a:srgbClr val="1B1F23"/>
                          </a:solidFill>
                          <a:latin typeface="Arial"/>
                        </a:rPr>
                        <a:t>Comprehensive planning, coordination and execution of offensive-defensive operations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400" b="1">
                          <a:solidFill>
                            <a:srgbClr val="4B532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400" b="0">
                          <a:solidFill>
                            <a:srgbClr val="1B1F23"/>
                          </a:solidFill>
                          <a:latin typeface="Arial"/>
                        </a:rPr>
                        <a:t>Timely decision-making by commanders at division and brigade level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400" b="1">
                          <a:solidFill>
                            <a:srgbClr val="4B532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400" b="0">
                          <a:solidFill>
                            <a:srgbClr val="1B1F23"/>
                          </a:solidFill>
                          <a:latin typeface="Arial"/>
                        </a:rPr>
                        <a:t>Sound logistics plan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400" b="1">
                          <a:solidFill>
                            <a:srgbClr val="4B532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400" b="0">
                          <a:solidFill>
                            <a:srgbClr val="1B1F23"/>
                          </a:solidFill>
                          <a:latin typeface="Arial"/>
                        </a:rPr>
                        <a:t>Correct employment of UWF / volunteer forces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400" b="1">
                          <a:solidFill>
                            <a:srgbClr val="4B532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400" b="0">
                          <a:solidFill>
                            <a:srgbClr val="1B1F23"/>
                          </a:solidFill>
                          <a:latin typeface="Arial"/>
                        </a:rPr>
                        <a:t>Correct procedure for conducting a CAX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Detailed attainment process per phase — next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2F6E2C0-2033-4F69-9137-417BBFE0FBF6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 spc="150">
                <a:solidFill>
                  <a:srgbClr val="1B1F23"/>
                </a:solidFill>
                <a:latin typeface="Arial"/>
              </a:rPr>
              <a:t>LESSON 1 — PLANNING, COORD &amp; EXECUTION OF OFFN-DEF OPS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Attainment Process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74519"/>
          <a:ext cx="11094415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9722815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Key Activities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Prep Stage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IPB/DDMP identifies AAs and en disposn (RL 11 TSR–115 Maratha).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Ops Plan for simultaneous offn (201 Bde) and def (144 Bde).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FUP, IB Xing site and Blocking Posn selected.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PS-1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201 Bde launches offn X IB at KASBA.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144 Bde orgs def / Blocking Posn vs RL 8 Dogra Regt.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coord both sectors via common op pic.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PS-2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Adv resumes; BISHALGARH captured (North).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Bde-resourced attk on RL Blocking Posn (South).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realloc arty/engr resource across bdes.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PS-3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BISHALGARH def vs RL quick attk (North).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Div-resourced attk on Blocking Posn with fire/engr sp.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Simultaneous offn-def coord at div lvl.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PS-4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BISHALGARH def vs RL deliberate attk.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Bde/Div Res coord to restore Bn C Pen.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Decision: cont def or wdr to depth posn.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Source: EX DURJOY GHATI Obj-Lessons Matrix, 33 Inf Div.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D2636858-A15A-47D5-B564-A89386D35776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 spc="150">
                <a:solidFill>
                  <a:srgbClr val="1B1F23"/>
                </a:solidFill>
                <a:latin typeface="Arial"/>
              </a:rPr>
              <a:t>LESSON 2 — TIMELY DECISION-MAKING BY COMMANDERS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Attainment Process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74519"/>
          <a:ext cx="11094415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9722815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Key Activities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Prep Stage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Comd Decision Points formulated for each phase.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Bde/Div Res des; decision auth delegated.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PS-1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Bde decision on emp of Bde Res (15 BIR) at KAMALASAGAR.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realloc arty resource bet bdes.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review of inter-bde boundary.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PS-2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Bde decision on stalled adv / emp of Bde Res.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realloc engr resource (North).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decision on emp of Div arty resource (South).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PS-3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Bde decision under en quick attk (Bn C Pen pressured).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realloc Div arty resource.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review Div Res status for cross-reinforcement.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PS-4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Bde decision on emp of Bde Res (15 BIR).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climax decision: emp Div Res or wdr.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Formal dir issued within doctrinal time frame.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Source: EX DURJOY GHATI Obj-Lessons Matrix, 33 Inf Div.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E62100B7-19E2-4004-8CD0-1288DE4099FF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 spc="150">
                <a:solidFill>
                  <a:srgbClr val="1B1F23"/>
                </a:solidFill>
                <a:latin typeface="Arial"/>
              </a:rPr>
              <a:t>LESSON 3 — SOUND LOGISTICS 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Attainment Process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74519"/>
          <a:ext cx="11094415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9722815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Key Activities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Prep Stage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AdminO / Concept of Sp prepared.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DAA/BAA sel; G-est/ammo alloc iaw AHQ MO Dte.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PS-1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Ammo consumption vs G-est dmd (North).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CASEVAC and replen for arty/mor cas (both sectors).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MSR CUMILLA-CHAUDDOGRAM interdiction and contg.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PS-2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DAA displaces fwd to sustain the adv.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Ammo/fuel consumption vs G-est.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Ammo carr lost to en air act.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PS-3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Med evac chain capacity assessed vs Div med resource.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Ammo expenditure reaches critical state (South).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CASEVAC chain saturation (South).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PS-4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DAA/BAA displacement and med evac capacity assessed.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MSR cut disrupts CASEVAC/replen.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Critical ammo/med state drives terminal decision.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Source: EX DURJOY GHATI Obj-Lessons Matrix, 33 Inf Div.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72640C48-E94F-4059-81B2-47F5BA6BEEF7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 spc="150">
                <a:solidFill>
                  <a:srgbClr val="1B1F23"/>
                </a:solidFill>
                <a:latin typeface="Arial"/>
              </a:rPr>
              <a:t>LESSON 4 — EMPLOYMENT OF UWF / VOLUNTEER FORCES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Attainment Process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74519"/>
          <a:ext cx="11094415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9722815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Key Activities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Prep Stage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UWF/volunteer forces tasked within div AOP.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 stay-behind cells and reporting drills estb.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PS-1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 stay-behind int on RL mov beyond IB (both sectors).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UWF-Bde int handover and reporting.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PS-2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 guides for route/approach march (both sectors).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 int on RL res mov and reinforcement.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PS-3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 int on RL FUP activity and bypass indicators (North).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 int on RL armr reinforcement (South).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PS-4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 rpt on RL heliborne/para insertion in depth.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UWF int on RL Div Res mov towards BISHALGARH.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Source: EX DURJOY GHATI Obj-Lessons Matrix, 33 Inf Div.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A883B8BE-7F41-4970-A70A-3FD7DDE7AC2E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 spc="150">
                <a:solidFill>
                  <a:srgbClr val="1B1F23"/>
                </a:solidFill>
                <a:latin typeface="Arial"/>
              </a:rPr>
              <a:t>LESSON 5 — CONDUCT OF CAX — CORRECT PROCEDURE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Attainment Process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74519"/>
          <a:ext cx="11094415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9722815"/>
              </a:tblGrid>
              <a:tr h="4114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4F2EC"/>
                          </a:solidFill>
                          <a:latin typeface="Arial"/>
                        </a:rPr>
                        <a:t>Key Activities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4B5320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Prep Stage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IPC, gr recce and Final Terr Updt.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Tabletop WG, virtual depl and MPC/FCC.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PS-1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Threat Model/HPT list and DST applied in threat ident.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Spl SITREP and CCIR process initiated.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PS-2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BOS Sync Matrix applied in decision rows.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Two-tier div-bde play with EXCON dir.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PS-3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Relative Cbt Power and Attk Guidance Matrix applied.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Div HQ decision cycle iaw DST.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4B5320"/>
                          </a:solidFill>
                          <a:latin typeface="Arial"/>
                        </a:rPr>
                        <a:t>PS-4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DST/CCIR/BOS Sync Matrix fully applied to Div HQ dir.</a:t>
                      </a:r>
                    </a:p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1B1F23"/>
                          </a:solidFill>
                          <a:latin typeface="Arial"/>
                        </a:rPr>
                        <a:t>Prep for AAR/LLT eval of comd and staff performance.</a:t>
                      </a:r>
                    </a:p>
                  </a:txBody>
                  <a:tcPr anchor="ctr" marL="109728" marR="109728" marT="45720" marB="45720">
                    <a:lnB w="9525" cap="flat" cmpd="sng" algn="ctr">
                      <a:solidFill>
                        <a:srgbClr val="4B5320"/>
                      </a:solidFill>
                    </a:lnB>
                    <a:lnT w="9525" cap="flat" cmpd="sng" algn="ctr">
                      <a:solidFill>
                        <a:srgbClr val="4B5320"/>
                      </a:solidFill>
                    </a:lnT>
                    <a:lnR w="9525" cap="flat" cmpd="sng" algn="ctr">
                      <a:solidFill>
                        <a:srgbClr val="4B5320"/>
                      </a:solidFill>
                    </a:lnR>
                    <a:lnL w="9525" cap="flat" cmpd="sng" algn="ctr">
                      <a:solidFill>
                        <a:srgbClr val="4B5320"/>
                      </a:solidFill>
                    </a:lnL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Source: EX DURJOY GHATI Obj-Lessons Matrix, 33 Inf Div.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C6EA8F3A-112A-4AFD-8F68-F020ABE0AA4E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 spc="150">
                <a:solidFill>
                  <a:srgbClr val="1B1F23"/>
                </a:solidFill>
                <a:latin typeface="Arial"/>
              </a:rPr>
              <a:t>KEY TAKEAWAYS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737360"/>
            <a:ext cx="548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1B1F23"/>
                </a:solidFill>
                <a:latin typeface="Arial"/>
              </a:rPr>
              <a:t>Validation of the Div Ops Plan iaw Planning Directive 1/2025.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548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1B1F23"/>
                </a:solidFill>
                <a:latin typeface="Arial"/>
              </a:rPr>
              <a:t>Justification of resource alloc/use (arty, engr, log); identify addl resource needs.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48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1B1F23"/>
                </a:solidFill>
                <a:latin typeface="Arial"/>
              </a:rPr>
              <a:t>Validation of the time plan for simultaneous offn-def ops at div/bde level.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548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1B1F23"/>
                </a:solidFill>
                <a:latin typeface="Arial"/>
              </a:rPr>
              <a:t>Identification of coord requirements between Div HQ and flanking bde gps.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548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B5320"/>
                </a:solidFill>
                <a:latin typeface="Arial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105457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1B1F23"/>
                </a:solidFill>
                <a:latin typeface="Arial"/>
              </a:rPr>
              <a:t>Assessment of capability and correct emp of UWF/volunteers and BGB within the div AOP.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689F40C1-C55F-4A41-8AC5-72CE7EB6AADA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60">
                <a:solidFill>
                  <a:srgbClr val="B08D57"/>
                </a:solidFill>
                <a:latin typeface="Arial"/>
              </a:rPr>
              <a:t>33 INF DIV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8255" y="137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40">
                <a:solidFill>
                  <a:srgbClr val="B08D57"/>
                </a:solidFill>
                <a:latin typeface="Arial"/>
              </a:rPr>
              <a:t>EX DURJOY GHATI (CAX)-19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08D57"/>
                </a:solidFill>
                <a:latin typeface="Arial"/>
              </a:rPr>
              <a:t>OFFICIAL / FOR BRIEFING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 spc="150">
                <a:solidFill>
                  <a:srgbClr val="1B1F23"/>
                </a:solidFill>
                <a:latin typeface="Arial"/>
              </a:rPr>
              <a:t>RECOMMENDATIONS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B08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737360"/>
            <a:ext cx="548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Institutionalise the IPB/DDMP-to-Ops Plan sequence for simultaneous offn-def planning (addresses Lesson 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548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Formalise Comd Decision Points and delegated decision auth at div/bde level (addresses Lesson 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548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Build ammo/CASEVAC contingency margins into the log plan for multi-sector ops (addresses Lesson 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548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4340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Standardise UWF/volunteer tasking, stay-behind cells and reporting drills (addresses Lesson 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548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4B5320"/>
                </a:solidFill>
                <a:latin typeface="Arial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12080"/>
            <a:ext cx="1054577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B1F23"/>
                </a:solidFill>
                <a:latin typeface="Arial"/>
              </a:rPr>
              <a:t>Retain the DST/CCIR/BOS Sync Matrix as the standard CAX conduct procedure (addresses Lesson 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14255" y="6473952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526F4580-3929-48C7-83A3-7C99C6DAE1ED}" type="slidenum">
              <a:rPr lang="en-US" sz="1600" b="1" dirty="0">
                <a:solidFill>
                  <a:srgbClr val="B08D57"/>
                </a:solidFill>
                <a:latin typeface="Arial"/>
              </a:rPr>
              <a:t>1</a:t>
            </a:fld>
            <a:r>
              <a:rPr sz="1600" b="1">
                <a:solidFill>
                  <a:srgbClr val="B08D57"/>
                </a:solidFill>
                <a:latin typeface="Arial"/>
              </a:rPr>
              <a:t>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 spc="100">
                <a:solidFill>
                  <a:srgbClr val="B08D57"/>
                </a:solidFill>
                <a:latin typeface="Arial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4F2EC"/>
                </a:solidFill>
                <a:latin typeface="Arial"/>
              </a:rPr>
              <a:t>EX DURJOY GHATI (CAX)-19  •  33 INF DIV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B08D57"/>
                </a:solidFill>
                <a:latin typeface="Arial"/>
              </a:rPr>
              <a:t>RESTRICTED — INTERNAL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